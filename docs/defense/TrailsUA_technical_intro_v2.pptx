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54f4a73bcf4b30" /><Relationship Type="http://schemas.openxmlformats.org/officeDocument/2006/relationships/extended-properties" Target="/docProps/app.xml" Id="R97bc5230719c4cef" /><Relationship Type="http://schemas.openxmlformats.org/officeDocument/2006/relationships/officeDocument" Target="/ppt/presentation.xml" Id="R9262fb2311d64f86" /></Relationships>
</file>

<file path=ppt/presentation.xml><?xml version="1.0" encoding="utf-8"?>
<p:presentation xmlns:p="http://schemas.openxmlformats.org/presentationml/2006/main">
  <p:sldMasterIdLst>
    <p:sldMasterId xmlns:r="http://schemas.openxmlformats.org/officeDocument/2006/relationships" id="2147483648" r:id="R85108d56fdac447c"/>
  </p:sldMasterIdLst>
  <p:notesMasterIdLst>
    <p:notesMasterId xmlns:r="http://schemas.openxmlformats.org/officeDocument/2006/relationships" r:id="R7a22c7228f974c7a"/>
  </p:notesMasterIdLst>
  <p:sldIdLst>
    <p:sldId xmlns:r="http://schemas.openxmlformats.org/officeDocument/2006/relationships" id="256" r:id="Rcc519b17d4f043a2"/>
    <p:sldId xmlns:r="http://schemas.openxmlformats.org/officeDocument/2006/relationships" id="257" r:id="Rc181fcaf839c4527"/>
    <p:sldId xmlns:r="http://schemas.openxmlformats.org/officeDocument/2006/relationships" id="258" r:id="Ra6d8df4ca6a848b7"/>
    <p:sldId xmlns:r="http://schemas.openxmlformats.org/officeDocument/2006/relationships" id="259" r:id="R2658bde4a7224450"/>
    <p:sldId xmlns:r="http://schemas.openxmlformats.org/officeDocument/2006/relationships" id="260" r:id="R552f769ed2e94e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cb7e05990242f0" /><Relationship Type="http://schemas.openxmlformats.org/officeDocument/2006/relationships/slideMaster" Target="/ppt/slideMasters/slideMaster1.xml" Id="R85108d56fdac447c" /><Relationship Type="http://schemas.openxmlformats.org/officeDocument/2006/relationships/notesMaster" Target="/ppt/notesMasters/notesMaster1.xml" Id="R7a22c7228f974c7a" /><Relationship Type="http://schemas.openxmlformats.org/officeDocument/2006/relationships/presProps" Target="/ppt/presProps.xml" Id="R6ff89d7558234952" /><Relationship Type="http://schemas.openxmlformats.org/officeDocument/2006/relationships/tableStyles" Target="/ppt/tableStyles.xml" Id="Rd2f47604fe7b448c" /><Relationship Type="http://schemas.openxmlformats.org/officeDocument/2006/relationships/slide" Target="/ppt/slides/slide1.xml" Id="Rcc519b17d4f043a2" /><Relationship Type="http://schemas.openxmlformats.org/officeDocument/2006/relationships/slide" Target="/ppt/slides/slide2.xml" Id="Rc181fcaf839c4527" /><Relationship Type="http://schemas.openxmlformats.org/officeDocument/2006/relationships/slide" Target="/ppt/slides/slide3.xml" Id="Ra6d8df4ca6a848b7" /><Relationship Type="http://schemas.openxmlformats.org/officeDocument/2006/relationships/slide" Target="/ppt/slides/slide4.xml" Id="R2658bde4a7224450" /><Relationship Type="http://schemas.openxmlformats.org/officeDocument/2006/relationships/slide" Target="/ppt/slides/slide5.xml" Id="R552f769ed2e94e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dbede635cf41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e7b0e061e1433d" /><Relationship Type="http://schemas.openxmlformats.org/officeDocument/2006/relationships/notesMaster" Target="/ppt/notesMasters/notesMaster1.xml" Id="R25a3eacde20c49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d0244466fc450e" /><Relationship Type="http://schemas.openxmlformats.org/officeDocument/2006/relationships/notesMaster" Target="/ppt/notesMasters/notesMaster1.xml" Id="Rd2308e0d16464f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ba2ecf8a684a80" /><Relationship Type="http://schemas.openxmlformats.org/officeDocument/2006/relationships/notesMaster" Target="/ppt/notesMasters/notesMaster1.xml" Id="Re55be59dd8a048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bb1d20dd8749d7" /><Relationship Type="http://schemas.openxmlformats.org/officeDocument/2006/relationships/notesMaster" Target="/ppt/notesMasters/notesMaster1.xml" Id="Ra3d219220bb44b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afcb3986b04e84" /><Relationship Type="http://schemas.openxmlformats.org/officeDocument/2006/relationships/notesMaster" Target="/ppt/notesMasters/notesMaster1.xml" Id="Re8777122df1147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TrailsUA — це платформа пошуку та бронювання житла. Клієнтська частина працює на React і TypeScript, Vite збирає застосунок. React Router керує сторінками, Axios надсилає запити, Leaflet показує карту. Backend написаний на C# з ASP.NET Core. Entity Framework Core пов’язує сервер із PostgreSQL. Ми обрали реляційну базу, бо користувачі, житло та бронювання мають чіткі зв’язки.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Користувач виконує дію на сторінці, frontend надсилає HTTP-запит до API. Контролер приймає DTO, тобто об’єкт із даними запиту. Сервіс перевіряє правила, а DbContext виконує операцію з базою. Наприклад, при бронюванні сервер перевіряє дати та кількість гостей, сам рахує суму й повертає результат. Backend має три шари: API, Infrastructure і Domain. Контексти frontend централізують налаштування та дані. Demo і live обираються в одному місці через VITE_DATA_MODE.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Перший приклад — бронювання. Bookings містить GuestId, який посилається на Users, і RouteId, який посилається на Routes. Одна людина може створити багато бронювань, і одне житло може мати багато бронювань на різні дати. Routes — історична назва сутності оголошення житла в коді. Другий приклад — обране. Людина може додати багато оголошень, а одне оголошення можуть додати багато людей. Для цього є проміжна таблиця Favorites. Її складений ключ UserId і RouteId не дозволяє додати те саме житло двічі. Зовнішні ключі підтримують цілісність даних.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Паролі зберігаються у вигляді BCrypt-хешів. Після входу клієнт отримує access JWT і refresh-токен. API перевіряє права незалежно від кнопок на сторінці: користувач не може змінювати чужі дані. У чаті сервер перевіряє, що користувач є гостем або власником житла відповідного бронювання. Ціну розраховує сервер. У PostgreSQL є обмеження, яке блокує перетин дат активних бронювань навіть при одночасних запитах. Автоматичні тести перевіряють основні сценарії та обмеження доступу.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повноцінного запуску потрібно пройти весь live-сценарій із реальними оголошеннями та бронюваннями, зокрема перевірити чат із двох акаунтів. Серверний чат уже має API, але для показу потрібно підготувати дані. Підтримку потрібно підключити до бази та адмінки. Перед роботою з реальними користувачами також потрібна перевірка резервних копій, відновлення, моніторингу та поведінки під навантаженням. Фінансовий розділ у дипломі демонстраційний, реальні платежі — окремий етап. Зараз покажемо сайт у demo-режимі, а авторизація працює через backend. Передаю слово для демонстрації.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2354159bd445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7c8e9386424e6e" /><Relationship Type="http://schemas.openxmlformats.org/officeDocument/2006/relationships/slideLayout" Target="/ppt/slideLayouts/slideLayout1.xml" Id="R663ea1e4d08549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a1e4d08549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d6fc50f4af473f" /><Relationship Type="http://schemas.openxmlformats.org/officeDocument/2006/relationships/notesSlide" Target="/ppt/notesSlides/notesSlide1.xml" Id="Rc5525f46d9fc4b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c4e5bded964cae" /><Relationship Type="http://schemas.openxmlformats.org/officeDocument/2006/relationships/notesSlide" Target="/ppt/notesSlides/notesSlide2.xml" Id="Ra4c9282756d24e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43f439426d4b56" /><Relationship Type="http://schemas.openxmlformats.org/officeDocument/2006/relationships/notesSlide" Target="/ppt/notesSlides/notesSlide3.xml" Id="Rf52391ad994f41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ab9a48c5534f6b" /><Relationship Type="http://schemas.openxmlformats.org/officeDocument/2006/relationships/notesSlide" Target="/ppt/notesSlides/notesSlide4.xml" Id="Ra5f60db690a940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d555f974ac470b" /><Relationship Type="http://schemas.openxmlformats.org/officeDocument/2006/relationships/notesSlide" Target="/ppt/notesSlides/notesSlide5.xml" Id="R8eaeb0d9a5564506" /></Relationships>
</file>

<file path=ppt/slides/slide1.xml><?xml version="1.0" encoding="utf-8"?>
<p:sld xmlns:p="http://schemas.openxmlformats.org/presentationml/2006/main">
  <p:cSld>
    <p:bg>
      <p:bgPr>
        <a:solidFill xmlns:a="http://schemas.openxmlformats.org/drawingml/2006/main">
          <a:srgbClr val="F7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D6FC02-90E0-49AA-9EA7-CBF6CF4AB023}"/>
              </a:ext>
            </a:extLst>
          </p:cNvPr>
          <p:cNvSpPr>
            <a:spLocks xmlns:a="http://schemas.openxmlformats.org/drawingml/2006/main" noGrp="1"/>
          </p:cNvSpPr>
          <p:nvPr/>
        </p:nvSpPr>
        <p:spPr>
          <a:xfrm xmlns:a="http://schemas.openxmlformats.org/drawingml/2006/main">
            <a:off x="60960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31251D"/>
                </a:solidFill>
                <a:latin typeface="Arial"/>
                <a:ea typeface="Arial"/>
                <a:cs typeface="Arial"/>
              </a:defRPr>
            </a:pPr>
            <a:r>
              <a:rPr sz="2250" b="1">
                <a:solidFill>
                  <a:srgbClr val="31251D"/>
                </a:solidFill>
                <a:latin typeface="Arial"/>
                <a:ea typeface="Arial"/>
                <a:cs typeface="Arial"/>
              </a:rPr>
              <a:t>TrailsUA: технологічний стек</a:t>
            </a:r>
          </a:p>
        </p:txBody>
      </p:sp>
      <p:sp>
        <p:nvSpPr>
          <p:cNvPr id="2" name="">
            <a:extLst xmlns:a="http://schemas.openxmlformats.org/drawingml/2006/main">
              <a:ext uri="{FF2B5EF4-FFF2-40B4-BE49-F238E27FC236}">
                <a16:creationId xmlns:a16="http://schemas.microsoft.com/office/drawing/2014/main" id="{64FBE1CA-170E-48FC-9B5A-CD44959BE417}"/>
              </a:ext>
            </a:extLst>
          </p:cNvPr>
          <p:cNvSpPr>
            <a:spLocks xmlns:a="http://schemas.openxmlformats.org/drawingml/2006/main" noGrp="1"/>
          </p:cNvSpPr>
          <p:nvPr/>
        </p:nvSpPr>
        <p:spPr>
          <a:xfrm xmlns:a="http://schemas.openxmlformats.org/drawingml/2006/main">
            <a:off x="609600" y="990600"/>
            <a:ext cx="10972800" cy="0"/>
          </a:xfrm>
          <a:prstGeom xmlns:a="http://schemas.openxmlformats.org/drawingml/2006/main" prst="line">
            <a:avLst/>
          </a:prstGeom>
          <a:noFill xmlns:a="http://schemas.openxmlformats.org/drawingml/2006/main"/>
          <a:ln xmlns:a="http://schemas.openxmlformats.org/drawingml/2006/main" w="19050">
            <a:solidFill>
              <a:srgbClr val="D98B5F"/>
            </a:solidFill>
            <a:prstDash val="solid"/>
          </a:ln>
        </p:spPr>
      </p:sp>
      <p:sp>
        <p:nvSpPr>
          <p:cNvPr id="3" name="">
            <a:extLst xmlns:a="http://schemas.openxmlformats.org/drawingml/2006/main">
              <a:ext uri="{FF2B5EF4-FFF2-40B4-BE49-F238E27FC236}">
                <a16:creationId xmlns:a16="http://schemas.microsoft.com/office/drawing/2014/main" id="{C4B6CAD9-9F9E-46BA-A38A-3EDEAF70D065}"/>
              </a:ext>
            </a:extLst>
          </p:cNvPr>
          <p:cNvSpPr>
            <a:spLocks xmlns:a="http://schemas.openxmlformats.org/drawingml/2006/main" noGrp="1"/>
          </p:cNvSpPr>
          <p:nvPr/>
        </p:nvSpPr>
        <p:spPr>
          <a:xfrm xmlns:a="http://schemas.openxmlformats.org/drawingml/2006/main">
            <a:off x="10715625"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0">
                <a:solidFill>
                  <a:srgbClr val="6F6258"/>
                </a:solidFill>
                <a:latin typeface="Arial"/>
                <a:ea typeface="Arial"/>
                <a:cs typeface="Arial"/>
              </a:defRPr>
            </a:pPr>
            <a:r>
              <a:rPr sz="900" b="0">
                <a:solidFill>
                  <a:srgbClr val="6F6258"/>
                </a:solidFill>
                <a:latin typeface="Arial"/>
                <a:ea typeface="Arial"/>
                <a:cs typeface="Arial"/>
              </a:rPr>
              <a:t>1 / 5</a:t>
            </a:r>
          </a:p>
        </p:txBody>
      </p:sp>
      <p:sp>
        <p:nvSpPr>
          <p:cNvPr id="4" name="">
            <a:extLst xmlns:a="http://schemas.openxmlformats.org/drawingml/2006/main">
              <a:ext uri="{FF2B5EF4-FFF2-40B4-BE49-F238E27FC236}">
                <a16:creationId xmlns:a16="http://schemas.microsoft.com/office/drawing/2014/main" id="{DB3FE5EA-8548-4805-A6BB-AA5C1637772C}"/>
              </a:ext>
            </a:extLst>
          </p:cNvPr>
          <p:cNvSpPr>
            <a:spLocks xmlns:a="http://schemas.openxmlformats.org/drawingml/2006/main" noGrp="1"/>
          </p:cNvSpPr>
          <p:nvPr/>
        </p:nvSpPr>
        <p:spPr>
          <a:xfrm xmlns:a="http://schemas.openxmlformats.org/drawingml/2006/main">
            <a:off x="609600" y="12858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0">
                <a:solidFill>
                  <a:srgbClr val="6F6258"/>
                </a:solidFill>
                <a:latin typeface="Arial"/>
                <a:ea typeface="Arial"/>
                <a:cs typeface="Arial"/>
              </a:defRPr>
            </a:pPr>
            <a:r>
              <a:rPr sz="2025" b="0">
                <a:solidFill>
                  <a:srgbClr val="6F6258"/>
                </a:solidFill>
                <a:latin typeface="Arial"/>
                <a:ea typeface="Arial"/>
                <a:cs typeface="Arial"/>
              </a:rPr>
              <a:t>Платформа пошуку та бронювання житла</a:t>
            </a:r>
          </a:p>
        </p:txBody>
      </p:sp>
      <p:sp>
        <p:nvSpPr>
          <p:cNvPr id="5" name="">
            <a:extLst xmlns:a="http://schemas.openxmlformats.org/drawingml/2006/main">
              <a:ext uri="{FF2B5EF4-FFF2-40B4-BE49-F238E27FC236}">
                <a16:creationId xmlns:a16="http://schemas.microsoft.com/office/drawing/2014/main" id="{BF6B9530-8D55-4FE6-92B3-8E3867ADA1C3}"/>
              </a:ext>
            </a:extLst>
          </p:cNvPr>
          <p:cNvSpPr>
            <a:spLocks xmlns:a="http://schemas.openxmlformats.org/drawingml/2006/main" noGrp="1"/>
          </p:cNvSpPr>
          <p:nvPr/>
        </p:nvSpPr>
        <p:spPr>
          <a:xfrm xmlns:a="http://schemas.openxmlformats.org/drawingml/2006/main">
            <a:off x="609600" y="21907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Frontend</a:t>
            </a:r>
          </a:p>
        </p:txBody>
      </p:sp>
      <p:sp>
        <p:nvSpPr>
          <p:cNvPr id="6" name="">
            <a:extLst xmlns:a="http://schemas.openxmlformats.org/drawingml/2006/main">
              <a:ext uri="{FF2B5EF4-FFF2-40B4-BE49-F238E27FC236}">
                <a16:creationId xmlns:a16="http://schemas.microsoft.com/office/drawing/2014/main" id="{ECD6F361-431E-406A-8D44-150AFCC9B764}"/>
              </a:ext>
            </a:extLst>
          </p:cNvPr>
          <p:cNvSpPr>
            <a:spLocks xmlns:a="http://schemas.openxmlformats.org/drawingml/2006/main" noGrp="1"/>
          </p:cNvSpPr>
          <p:nvPr/>
        </p:nvSpPr>
        <p:spPr>
          <a:xfrm xmlns:a="http://schemas.openxmlformats.org/drawingml/2006/main">
            <a:off x="3524250" y="2190750"/>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React 19 + TypeScript</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Vite, React Router, Axios, Leaflet</a:t>
            </a:r>
          </a:p>
        </p:txBody>
      </p:sp>
      <p:sp>
        <p:nvSpPr>
          <p:cNvPr id="7" name="">
            <a:extLst xmlns:a="http://schemas.openxmlformats.org/drawingml/2006/main">
              <a:ext uri="{FF2B5EF4-FFF2-40B4-BE49-F238E27FC236}">
                <a16:creationId xmlns:a16="http://schemas.microsoft.com/office/drawing/2014/main" id="{6CA0B222-A3B3-4C08-87B4-2A596987730F}"/>
              </a:ext>
            </a:extLst>
          </p:cNvPr>
          <p:cNvSpPr>
            <a:spLocks xmlns:a="http://schemas.openxmlformats.org/drawingml/2006/main" noGrp="1"/>
          </p:cNvSpPr>
          <p:nvPr/>
        </p:nvSpPr>
        <p:spPr>
          <a:xfrm xmlns:a="http://schemas.openxmlformats.org/drawingml/2006/main">
            <a:off x="609600" y="34766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Backend</a:t>
            </a:r>
          </a:p>
        </p:txBody>
      </p:sp>
      <p:sp>
        <p:nvSpPr>
          <p:cNvPr id="8" name="">
            <a:extLst xmlns:a="http://schemas.openxmlformats.org/drawingml/2006/main">
              <a:ext uri="{FF2B5EF4-FFF2-40B4-BE49-F238E27FC236}">
                <a16:creationId xmlns:a16="http://schemas.microsoft.com/office/drawing/2014/main" id="{F9FA36E9-27B5-4E99-9132-C8ED5D4F8B79}"/>
              </a:ext>
            </a:extLst>
          </p:cNvPr>
          <p:cNvSpPr>
            <a:spLocks xmlns:a="http://schemas.openxmlformats.org/drawingml/2006/main" noGrp="1"/>
          </p:cNvSpPr>
          <p:nvPr/>
        </p:nvSpPr>
        <p:spPr>
          <a:xfrm xmlns:a="http://schemas.openxmlformats.org/drawingml/2006/main">
            <a:off x="3524250" y="347662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C# + ASP.NET Core (.NET 10)</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HTTP API, сервіси та Entity Framework Core</a:t>
            </a:r>
          </a:p>
        </p:txBody>
      </p:sp>
      <p:sp>
        <p:nvSpPr>
          <p:cNvPr id="9" name="">
            <a:extLst xmlns:a="http://schemas.openxmlformats.org/drawingml/2006/main">
              <a:ext uri="{FF2B5EF4-FFF2-40B4-BE49-F238E27FC236}">
                <a16:creationId xmlns:a16="http://schemas.microsoft.com/office/drawing/2014/main" id="{D20F36F4-7531-49E9-B046-8846D1E3CC19}"/>
              </a:ext>
            </a:extLst>
          </p:cNvPr>
          <p:cNvSpPr>
            <a:spLocks xmlns:a="http://schemas.openxmlformats.org/drawingml/2006/main" noGrp="1"/>
          </p:cNvSpPr>
          <p:nvPr/>
        </p:nvSpPr>
        <p:spPr>
          <a:xfrm xmlns:a="http://schemas.openxmlformats.org/drawingml/2006/main">
            <a:off x="609600" y="47625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База даних</a:t>
            </a:r>
          </a:p>
        </p:txBody>
      </p:sp>
      <p:sp>
        <p:nvSpPr>
          <p:cNvPr id="10" name="">
            <a:extLst xmlns:a="http://schemas.openxmlformats.org/drawingml/2006/main">
              <a:ext uri="{FF2B5EF4-FFF2-40B4-BE49-F238E27FC236}">
                <a16:creationId xmlns:a16="http://schemas.microsoft.com/office/drawing/2014/main" id="{3425C767-706C-4615-A87A-CD32427164C7}"/>
              </a:ext>
            </a:extLst>
          </p:cNvPr>
          <p:cNvSpPr>
            <a:spLocks xmlns:a="http://schemas.openxmlformats.org/drawingml/2006/main" noGrp="1"/>
          </p:cNvSpPr>
          <p:nvPr/>
        </p:nvSpPr>
        <p:spPr>
          <a:xfrm xmlns:a="http://schemas.openxmlformats.org/drawingml/2006/main">
            <a:off x="3524250" y="4762500"/>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PostgreSQL</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Реляційні таблиці, зовнішні ключі та міграції</a:t>
            </a:r>
          </a:p>
        </p:txBody>
      </p:sp>
    </p:spTree>
    <p:extLst>
      <p:ext uri="{BB962C8B-B14F-4D97-AF65-F5344CB8AC3E}">
        <p14:creationId xmlns:p14="http://schemas.microsoft.com/office/powerpoint/2010/main" val="1447709413"/>
      </p:ext>
    </p:extLst>
  </p:cSld>
</p:sld>
</file>

<file path=ppt/slides/slide2.xml><?xml version="1.0" encoding="utf-8"?>
<p:sld xmlns:p="http://schemas.openxmlformats.org/presentationml/2006/main">
  <p:cSld>
    <p:bg>
      <p:bgPr>
        <a:solidFill xmlns:a="http://schemas.openxmlformats.org/drawingml/2006/main">
          <a:srgbClr val="F7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59A365-DEB5-4EAC-BD0E-77C7B15C2A1C}"/>
              </a:ext>
            </a:extLst>
          </p:cNvPr>
          <p:cNvSpPr>
            <a:spLocks xmlns:a="http://schemas.openxmlformats.org/drawingml/2006/main" noGrp="1"/>
          </p:cNvSpPr>
          <p:nvPr/>
        </p:nvSpPr>
        <p:spPr>
          <a:xfrm xmlns:a="http://schemas.openxmlformats.org/drawingml/2006/main">
            <a:off x="60960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31251D"/>
                </a:solidFill>
                <a:latin typeface="Arial"/>
                <a:ea typeface="Arial"/>
                <a:cs typeface="Arial"/>
              </a:defRPr>
            </a:pPr>
            <a:r>
              <a:rPr sz="2250" b="1">
                <a:solidFill>
                  <a:srgbClr val="31251D"/>
                </a:solidFill>
                <a:latin typeface="Arial"/>
                <a:ea typeface="Arial"/>
                <a:cs typeface="Arial"/>
              </a:rPr>
              <a:t>Взаємодія frontend і backend</a:t>
            </a:r>
          </a:p>
        </p:txBody>
      </p:sp>
      <p:sp>
        <p:nvSpPr>
          <p:cNvPr id="2" name="">
            <a:extLst xmlns:a="http://schemas.openxmlformats.org/drawingml/2006/main">
              <a:ext uri="{FF2B5EF4-FFF2-40B4-BE49-F238E27FC236}">
                <a16:creationId xmlns:a16="http://schemas.microsoft.com/office/drawing/2014/main" id="{E57FFF04-B0E6-4E39-B96D-AD43FEAA1D79}"/>
              </a:ext>
            </a:extLst>
          </p:cNvPr>
          <p:cNvSpPr>
            <a:spLocks xmlns:a="http://schemas.openxmlformats.org/drawingml/2006/main" noGrp="1"/>
          </p:cNvSpPr>
          <p:nvPr/>
        </p:nvSpPr>
        <p:spPr>
          <a:xfrm xmlns:a="http://schemas.openxmlformats.org/drawingml/2006/main">
            <a:off x="609600" y="990600"/>
            <a:ext cx="10972800" cy="0"/>
          </a:xfrm>
          <a:prstGeom xmlns:a="http://schemas.openxmlformats.org/drawingml/2006/main" prst="line">
            <a:avLst/>
          </a:prstGeom>
          <a:noFill xmlns:a="http://schemas.openxmlformats.org/drawingml/2006/main"/>
          <a:ln xmlns:a="http://schemas.openxmlformats.org/drawingml/2006/main" w="19050">
            <a:solidFill>
              <a:srgbClr val="D98B5F"/>
            </a:solidFill>
            <a:prstDash val="solid"/>
          </a:ln>
        </p:spPr>
      </p:sp>
      <p:sp>
        <p:nvSpPr>
          <p:cNvPr id="3" name="">
            <a:extLst xmlns:a="http://schemas.openxmlformats.org/drawingml/2006/main">
              <a:ext uri="{FF2B5EF4-FFF2-40B4-BE49-F238E27FC236}">
                <a16:creationId xmlns:a16="http://schemas.microsoft.com/office/drawing/2014/main" id="{8DBA6430-DB53-4CCC-BF10-241AE0E92BEC}"/>
              </a:ext>
            </a:extLst>
          </p:cNvPr>
          <p:cNvSpPr>
            <a:spLocks xmlns:a="http://schemas.openxmlformats.org/drawingml/2006/main" noGrp="1"/>
          </p:cNvSpPr>
          <p:nvPr/>
        </p:nvSpPr>
        <p:spPr>
          <a:xfrm xmlns:a="http://schemas.openxmlformats.org/drawingml/2006/main">
            <a:off x="10715625"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0">
                <a:solidFill>
                  <a:srgbClr val="6F6258"/>
                </a:solidFill>
                <a:latin typeface="Arial"/>
                <a:ea typeface="Arial"/>
                <a:cs typeface="Arial"/>
              </a:defRPr>
            </a:pPr>
            <a:r>
              <a:rPr sz="900" b="0">
                <a:solidFill>
                  <a:srgbClr val="6F6258"/>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6090A3D9-5A35-4868-A3DD-4B42C2FE406C}"/>
              </a:ext>
            </a:extLst>
          </p:cNvPr>
          <p:cNvSpPr>
            <a:spLocks xmlns:a="http://schemas.openxmlformats.org/drawingml/2006/main" noGrp="1"/>
          </p:cNvSpPr>
          <p:nvPr/>
        </p:nvSpPr>
        <p:spPr>
          <a:xfrm xmlns:a="http://schemas.openxmlformats.org/drawingml/2006/main">
            <a:off x="609600" y="15240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Клієнт</a:t>
            </a:r>
          </a:p>
        </p:txBody>
      </p:sp>
      <p:sp>
        <p:nvSpPr>
          <p:cNvPr id="5" name="">
            <a:extLst xmlns:a="http://schemas.openxmlformats.org/drawingml/2006/main">
              <a:ext uri="{FF2B5EF4-FFF2-40B4-BE49-F238E27FC236}">
                <a16:creationId xmlns:a16="http://schemas.microsoft.com/office/drawing/2014/main" id="{C9A7A870-9B89-46DB-9AEE-F56F8F0AF834}"/>
              </a:ext>
            </a:extLst>
          </p:cNvPr>
          <p:cNvSpPr>
            <a:spLocks xmlns:a="http://schemas.openxmlformats.org/drawingml/2006/main" noGrp="1"/>
          </p:cNvSpPr>
          <p:nvPr/>
        </p:nvSpPr>
        <p:spPr>
          <a:xfrm xmlns:a="http://schemas.openxmlformats.org/drawingml/2006/main">
            <a:off x="3524250" y="1524000"/>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Сторінки й компоненти React</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Контексти керують акаунтом, мовою та даними</a:t>
            </a:r>
          </a:p>
        </p:txBody>
      </p:sp>
      <p:sp>
        <p:nvSpPr>
          <p:cNvPr id="6" name="">
            <a:extLst xmlns:a="http://schemas.openxmlformats.org/drawingml/2006/main">
              <a:ext uri="{FF2B5EF4-FFF2-40B4-BE49-F238E27FC236}">
                <a16:creationId xmlns:a16="http://schemas.microsoft.com/office/drawing/2014/main" id="{029CACDC-2951-4334-B8B5-D7658D8A5534}"/>
              </a:ext>
            </a:extLst>
          </p:cNvPr>
          <p:cNvSpPr>
            <a:spLocks xmlns:a="http://schemas.openxmlformats.org/drawingml/2006/main" noGrp="1"/>
          </p:cNvSpPr>
          <p:nvPr/>
        </p:nvSpPr>
        <p:spPr>
          <a:xfrm xmlns:a="http://schemas.openxmlformats.org/drawingml/2006/main">
            <a:off x="609600" y="2762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Сервер</a:t>
            </a:r>
          </a:p>
        </p:txBody>
      </p:sp>
      <p:sp>
        <p:nvSpPr>
          <p:cNvPr id="7" name="">
            <a:extLst xmlns:a="http://schemas.openxmlformats.org/drawingml/2006/main">
              <a:ext uri="{FF2B5EF4-FFF2-40B4-BE49-F238E27FC236}">
                <a16:creationId xmlns:a16="http://schemas.microsoft.com/office/drawing/2014/main" id="{6360F969-454F-4BA6-B70F-577003EEA51A}"/>
              </a:ext>
            </a:extLst>
          </p:cNvPr>
          <p:cNvSpPr>
            <a:spLocks xmlns:a="http://schemas.openxmlformats.org/drawingml/2006/main" noGrp="1"/>
          </p:cNvSpPr>
          <p:nvPr/>
        </p:nvSpPr>
        <p:spPr>
          <a:xfrm xmlns:a="http://schemas.openxmlformats.org/drawingml/2006/main">
            <a:off x="3524250" y="2762250"/>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Controller приймає DTO, Service перевіряє правила</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DbContext читає та змінює дані в PostgreSQL</a:t>
            </a:r>
          </a:p>
        </p:txBody>
      </p:sp>
      <p:sp>
        <p:nvSpPr>
          <p:cNvPr id="8" name="">
            <a:extLst xmlns:a="http://schemas.openxmlformats.org/drawingml/2006/main">
              <a:ext uri="{FF2B5EF4-FFF2-40B4-BE49-F238E27FC236}">
                <a16:creationId xmlns:a16="http://schemas.microsoft.com/office/drawing/2014/main" id="{FEA9ABAD-C303-467B-8079-1802217F6A50}"/>
              </a:ext>
            </a:extLst>
          </p:cNvPr>
          <p:cNvSpPr>
            <a:spLocks xmlns:a="http://schemas.openxmlformats.org/drawingml/2006/main" noGrp="1"/>
          </p:cNvSpPr>
          <p:nvPr/>
        </p:nvSpPr>
        <p:spPr>
          <a:xfrm xmlns:a="http://schemas.openxmlformats.org/drawingml/2006/main">
            <a:off x="609600" y="40005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Структура</a:t>
            </a:r>
          </a:p>
        </p:txBody>
      </p:sp>
      <p:sp>
        <p:nvSpPr>
          <p:cNvPr id="9" name="">
            <a:extLst xmlns:a="http://schemas.openxmlformats.org/drawingml/2006/main">
              <a:ext uri="{FF2B5EF4-FFF2-40B4-BE49-F238E27FC236}">
                <a16:creationId xmlns:a16="http://schemas.microsoft.com/office/drawing/2014/main" id="{6049EF5C-C815-4C97-AB06-2C5B39B590F0}"/>
              </a:ext>
            </a:extLst>
          </p:cNvPr>
          <p:cNvSpPr>
            <a:spLocks xmlns:a="http://schemas.openxmlformats.org/drawingml/2006/main" noGrp="1"/>
          </p:cNvSpPr>
          <p:nvPr/>
        </p:nvSpPr>
        <p:spPr>
          <a:xfrm xmlns:a="http://schemas.openxmlformats.org/drawingml/2006/main">
            <a:off x="3524250" y="4000500"/>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API: контролери та middleware</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Infrastructure: сервіси й EF Core. Domain: сутності та DTO</a:t>
            </a:r>
          </a:p>
        </p:txBody>
      </p:sp>
      <p:sp>
        <p:nvSpPr>
          <p:cNvPr id="10" name="">
            <a:extLst xmlns:a="http://schemas.openxmlformats.org/drawingml/2006/main">
              <a:ext uri="{FF2B5EF4-FFF2-40B4-BE49-F238E27FC236}">
                <a16:creationId xmlns:a16="http://schemas.microsoft.com/office/drawing/2014/main" id="{A5A65EF2-FA27-4658-BEEC-BF89483CF005}"/>
              </a:ext>
            </a:extLst>
          </p:cNvPr>
          <p:cNvSpPr>
            <a:spLocks xmlns:a="http://schemas.openxmlformats.org/drawingml/2006/main" noGrp="1"/>
          </p:cNvSpPr>
          <p:nvPr/>
        </p:nvSpPr>
        <p:spPr>
          <a:xfrm xmlns:a="http://schemas.openxmlformats.org/drawingml/2006/main">
            <a:off x="609600" y="55245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1">
                <a:solidFill>
                  <a:srgbClr val="31251D"/>
                </a:solidFill>
                <a:latin typeface="Arial"/>
                <a:ea typeface="Arial"/>
                <a:cs typeface="Arial"/>
              </a:defRPr>
            </a:pPr>
            <a:r>
              <a:rPr sz="1875" b="1">
                <a:solidFill>
                  <a:srgbClr val="31251D"/>
                </a:solidFill>
                <a:latin typeface="Arial"/>
                <a:ea typeface="Arial"/>
                <a:cs typeface="Arial"/>
              </a:rPr>
              <a:t>Приклад: сервер розраховує ціну бронювання й повертає результат у кабінет</a:t>
            </a:r>
          </a:p>
        </p:txBody>
      </p:sp>
    </p:spTree>
    <p:extLst>
      <p:ext uri="{BB962C8B-B14F-4D97-AF65-F5344CB8AC3E}">
        <p14:creationId xmlns:p14="http://schemas.microsoft.com/office/powerpoint/2010/main" val="1647091765"/>
      </p:ext>
    </p:extLst>
  </p:cSld>
</p:sld>
</file>

<file path=ppt/slides/slide3.xml><?xml version="1.0" encoding="utf-8"?>
<p:sld xmlns:p="http://schemas.openxmlformats.org/presentationml/2006/main">
  <p:cSld>
    <p:bg>
      <p:bgPr>
        <a:solidFill xmlns:a="http://schemas.openxmlformats.org/drawingml/2006/main">
          <a:srgbClr val="F7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894582-FC8A-42F7-8E53-2329554ED1A8}"/>
              </a:ext>
            </a:extLst>
          </p:cNvPr>
          <p:cNvSpPr>
            <a:spLocks xmlns:a="http://schemas.openxmlformats.org/drawingml/2006/main" noGrp="1"/>
          </p:cNvSpPr>
          <p:nvPr/>
        </p:nvSpPr>
        <p:spPr>
          <a:xfrm xmlns:a="http://schemas.openxmlformats.org/drawingml/2006/main">
            <a:off x="60960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31251D"/>
                </a:solidFill>
                <a:latin typeface="Arial"/>
                <a:ea typeface="Arial"/>
                <a:cs typeface="Arial"/>
              </a:defRPr>
            </a:pPr>
            <a:r>
              <a:rPr sz="2250" b="1">
                <a:solidFill>
                  <a:srgbClr val="31251D"/>
                </a:solidFill>
                <a:latin typeface="Arial"/>
                <a:ea typeface="Arial"/>
                <a:cs typeface="Arial"/>
              </a:rPr>
              <a:t>Основні зв’язки бази даних</a:t>
            </a:r>
          </a:p>
        </p:txBody>
      </p:sp>
      <p:sp>
        <p:nvSpPr>
          <p:cNvPr id="2" name="">
            <a:extLst xmlns:a="http://schemas.openxmlformats.org/drawingml/2006/main">
              <a:ext uri="{FF2B5EF4-FFF2-40B4-BE49-F238E27FC236}">
                <a16:creationId xmlns:a16="http://schemas.microsoft.com/office/drawing/2014/main" id="{1FE71396-6435-421B-ADD4-3932CBFF8794}"/>
              </a:ext>
            </a:extLst>
          </p:cNvPr>
          <p:cNvSpPr>
            <a:spLocks xmlns:a="http://schemas.openxmlformats.org/drawingml/2006/main" noGrp="1"/>
          </p:cNvSpPr>
          <p:nvPr/>
        </p:nvSpPr>
        <p:spPr>
          <a:xfrm xmlns:a="http://schemas.openxmlformats.org/drawingml/2006/main">
            <a:off x="609600" y="990600"/>
            <a:ext cx="10972800" cy="0"/>
          </a:xfrm>
          <a:prstGeom xmlns:a="http://schemas.openxmlformats.org/drawingml/2006/main" prst="line">
            <a:avLst/>
          </a:prstGeom>
          <a:noFill xmlns:a="http://schemas.openxmlformats.org/drawingml/2006/main"/>
          <a:ln xmlns:a="http://schemas.openxmlformats.org/drawingml/2006/main" w="19050">
            <a:solidFill>
              <a:srgbClr val="D98B5F"/>
            </a:solidFill>
            <a:prstDash val="solid"/>
          </a:ln>
        </p:spPr>
      </p:sp>
      <p:sp>
        <p:nvSpPr>
          <p:cNvPr id="3" name="">
            <a:extLst xmlns:a="http://schemas.openxmlformats.org/drawingml/2006/main">
              <a:ext uri="{FF2B5EF4-FFF2-40B4-BE49-F238E27FC236}">
                <a16:creationId xmlns:a16="http://schemas.microsoft.com/office/drawing/2014/main" id="{DE3E2943-A0C9-413B-B5B2-8BE166656DE6}"/>
              </a:ext>
            </a:extLst>
          </p:cNvPr>
          <p:cNvSpPr>
            <a:spLocks xmlns:a="http://schemas.openxmlformats.org/drawingml/2006/main" noGrp="1"/>
          </p:cNvSpPr>
          <p:nvPr/>
        </p:nvSpPr>
        <p:spPr>
          <a:xfrm xmlns:a="http://schemas.openxmlformats.org/drawingml/2006/main">
            <a:off x="10715625"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0">
                <a:solidFill>
                  <a:srgbClr val="6F6258"/>
                </a:solidFill>
                <a:latin typeface="Arial"/>
                <a:ea typeface="Arial"/>
                <a:cs typeface="Arial"/>
              </a:defRPr>
            </a:pPr>
            <a:r>
              <a:rPr sz="900" b="0">
                <a:solidFill>
                  <a:srgbClr val="6F6258"/>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FC5BC9FA-A223-4AF9-943E-45120944B4E6}"/>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31251D"/>
                </a:solidFill>
                <a:latin typeface="Arial"/>
                <a:ea typeface="Arial"/>
                <a:cs typeface="Arial"/>
              </a:defRPr>
            </a:pPr>
            <a:r>
              <a:rPr sz="2025" b="1">
                <a:solidFill>
                  <a:srgbClr val="31251D"/>
                </a:solidFill>
                <a:latin typeface="Arial"/>
                <a:ea typeface="Arial"/>
                <a:cs typeface="Arial"/>
              </a:rPr>
              <a:t>Бронювання: зв’язки «один до багатьох»</a:t>
            </a:r>
          </a:p>
        </p:txBody>
      </p:sp>
      <p:sp>
        <p:nvSpPr>
          <p:cNvPr id="5" name="">
            <a:extLst xmlns:a="http://schemas.openxmlformats.org/drawingml/2006/main">
              <a:ext uri="{FF2B5EF4-FFF2-40B4-BE49-F238E27FC236}">
                <a16:creationId xmlns:a16="http://schemas.microsoft.com/office/drawing/2014/main" id="{A8690058-4980-42DF-98AB-02C8185DCD61}"/>
              </a:ext>
            </a:extLst>
          </p:cNvPr>
          <p:cNvSpPr>
            <a:spLocks xmlns:a="http://schemas.openxmlformats.org/drawingml/2006/main" noGrp="1"/>
          </p:cNvSpPr>
          <p:nvPr/>
        </p:nvSpPr>
        <p:spPr>
          <a:xfrm xmlns:a="http://schemas.openxmlformats.org/drawingml/2006/main">
            <a:off x="609600" y="2095500"/>
            <a:ext cx="2286000" cy="952500"/>
          </a:xfrm>
          <a:prstGeom xmlns:a="http://schemas.openxmlformats.org/drawingml/2006/main" prst="roundRect">
            <a:avLst>
              <a:gd name="adj" fmla="val 18000"/>
            </a:avLst>
          </a:prstGeom>
          <a:solidFill xmlns:a="http://schemas.openxmlformats.org/drawingml/2006/main">
            <a:srgbClr val="FFFDFC"/>
          </a:solidFill>
          <a:ln xmlns:a="http://schemas.openxmlformats.org/drawingml/2006/main" w="14288">
            <a:solidFill>
              <a:srgbClr val="F2DDC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defRPr sz="2025" b="1">
                <a:solidFill>
                  <a:srgbClr val="31251D"/>
                </a:solidFill>
                <a:latin typeface="Arial"/>
                <a:ea typeface="Arial"/>
                <a:cs typeface="Arial"/>
              </a:defRPr>
            </a:pPr>
            <a:r>
              <a:rPr sz="2025" b="1">
                <a:solidFill>
                  <a:srgbClr val="31251D"/>
                </a:solidFill>
                <a:latin typeface="Arial"/>
                <a:ea typeface="Arial"/>
                <a:cs typeface="Arial"/>
              </a:rPr>
              <a:t>Users</a:t>
            </a:r>
          </a:p>
          <a:p xmlns:a="http://schemas.openxmlformats.org/drawingml/2006/main">
            <a:pPr algn="ctr">
              <a:defRPr sz="2025" b="1">
                <a:solidFill>
                  <a:srgbClr val="31251D"/>
                </a:solidFill>
                <a:latin typeface="Arial"/>
                <a:ea typeface="Arial"/>
                <a:cs typeface="Arial"/>
              </a:defRPr>
            </a:pPr>
            <a:r>
              <a:rPr sz="2025" b="1">
                <a:solidFill>
                  <a:srgbClr val="31251D"/>
                </a:solidFill>
                <a:latin typeface="Arial"/>
                <a:ea typeface="Arial"/>
                <a:cs typeface="Arial"/>
              </a:rPr>
              <a:t>Id</a:t>
            </a:r>
          </a:p>
        </p:txBody>
      </p:sp>
      <p:sp>
        <p:nvSpPr>
          <p:cNvPr id="6" name="">
            <a:extLst xmlns:a="http://schemas.openxmlformats.org/drawingml/2006/main">
              <a:ext uri="{FF2B5EF4-FFF2-40B4-BE49-F238E27FC236}">
                <a16:creationId xmlns:a16="http://schemas.microsoft.com/office/drawing/2014/main" id="{61617903-89CF-406D-97DC-DF76365B0D3F}"/>
              </a:ext>
            </a:extLst>
          </p:cNvPr>
          <p:cNvSpPr>
            <a:spLocks xmlns:a="http://schemas.openxmlformats.org/drawingml/2006/main" noGrp="1"/>
          </p:cNvSpPr>
          <p:nvPr/>
        </p:nvSpPr>
        <p:spPr>
          <a:xfrm xmlns:a="http://schemas.openxmlformats.org/drawingml/2006/main">
            <a:off x="4476750" y="2095500"/>
            <a:ext cx="3048000" cy="952500"/>
          </a:xfrm>
          <a:prstGeom xmlns:a="http://schemas.openxmlformats.org/drawingml/2006/main" prst="roundRect">
            <a:avLst>
              <a:gd name="adj" fmla="val 18000"/>
            </a:avLst>
          </a:prstGeom>
          <a:solidFill xmlns:a="http://schemas.openxmlformats.org/drawingml/2006/main">
            <a:srgbClr val="F2DDCE"/>
          </a:solidFill>
          <a:ln xmlns:a="http://schemas.openxmlformats.org/drawingml/2006/main" w="14288">
            <a:solidFill>
              <a:srgbClr val="F2DDC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defRPr sz="2025" b="1">
                <a:solidFill>
                  <a:srgbClr val="31251D"/>
                </a:solidFill>
                <a:latin typeface="Arial"/>
                <a:ea typeface="Arial"/>
                <a:cs typeface="Arial"/>
              </a:defRPr>
            </a:pPr>
            <a:r>
              <a:rPr sz="2025" b="1">
                <a:solidFill>
                  <a:srgbClr val="31251D"/>
                </a:solidFill>
                <a:latin typeface="Arial"/>
                <a:ea typeface="Arial"/>
                <a:cs typeface="Arial"/>
              </a:rPr>
              <a:t>Bookings</a:t>
            </a:r>
          </a:p>
          <a:p xmlns:a="http://schemas.openxmlformats.org/drawingml/2006/main">
            <a:pPr algn="ctr">
              <a:defRPr sz="2025" b="1">
                <a:solidFill>
                  <a:srgbClr val="31251D"/>
                </a:solidFill>
                <a:latin typeface="Arial"/>
                <a:ea typeface="Arial"/>
                <a:cs typeface="Arial"/>
              </a:defRPr>
            </a:pPr>
            <a:r>
              <a:rPr sz="2025" b="1">
                <a:solidFill>
                  <a:srgbClr val="31251D"/>
                </a:solidFill>
                <a:latin typeface="Arial"/>
                <a:ea typeface="Arial"/>
                <a:cs typeface="Arial"/>
              </a:rPr>
              <a:t>GuestId, RouteId</a:t>
            </a:r>
          </a:p>
        </p:txBody>
      </p:sp>
      <p:sp>
        <p:nvSpPr>
          <p:cNvPr id="7" name="">
            <a:extLst xmlns:a="http://schemas.openxmlformats.org/drawingml/2006/main">
              <a:ext uri="{FF2B5EF4-FFF2-40B4-BE49-F238E27FC236}">
                <a16:creationId xmlns:a16="http://schemas.microsoft.com/office/drawing/2014/main" id="{669CB21C-3753-4B16-A996-70AD04CDB0B5}"/>
              </a:ext>
            </a:extLst>
          </p:cNvPr>
          <p:cNvSpPr>
            <a:spLocks xmlns:a="http://schemas.openxmlformats.org/drawingml/2006/main" noGrp="1"/>
          </p:cNvSpPr>
          <p:nvPr/>
        </p:nvSpPr>
        <p:spPr>
          <a:xfrm xmlns:a="http://schemas.openxmlformats.org/drawingml/2006/main">
            <a:off x="9296400" y="2095500"/>
            <a:ext cx="2286000" cy="952500"/>
          </a:xfrm>
          <a:prstGeom xmlns:a="http://schemas.openxmlformats.org/drawingml/2006/main" prst="roundRect">
            <a:avLst>
              <a:gd name="adj" fmla="val 18000"/>
            </a:avLst>
          </a:prstGeom>
          <a:solidFill xmlns:a="http://schemas.openxmlformats.org/drawingml/2006/main">
            <a:srgbClr val="FFFDFC"/>
          </a:solidFill>
          <a:ln xmlns:a="http://schemas.openxmlformats.org/drawingml/2006/main" w="14288">
            <a:solidFill>
              <a:srgbClr val="F2DDC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defRPr sz="2025" b="1">
                <a:solidFill>
                  <a:srgbClr val="31251D"/>
                </a:solidFill>
                <a:latin typeface="Arial"/>
                <a:ea typeface="Arial"/>
                <a:cs typeface="Arial"/>
              </a:defRPr>
            </a:pPr>
            <a:r>
              <a:rPr sz="2025" b="1">
                <a:solidFill>
                  <a:srgbClr val="31251D"/>
                </a:solidFill>
                <a:latin typeface="Arial"/>
                <a:ea typeface="Arial"/>
                <a:cs typeface="Arial"/>
              </a:rPr>
              <a:t>Routes</a:t>
            </a:r>
          </a:p>
          <a:p xmlns:a="http://schemas.openxmlformats.org/drawingml/2006/main">
            <a:pPr algn="ctr">
              <a:defRPr sz="2025" b="1">
                <a:solidFill>
                  <a:srgbClr val="31251D"/>
                </a:solidFill>
                <a:latin typeface="Arial"/>
                <a:ea typeface="Arial"/>
                <a:cs typeface="Arial"/>
              </a:defRPr>
            </a:pPr>
            <a:r>
              <a:rPr sz="2025" b="1">
                <a:solidFill>
                  <a:srgbClr val="31251D"/>
                </a:solidFill>
                <a:latin typeface="Arial"/>
                <a:ea typeface="Arial"/>
                <a:cs typeface="Arial"/>
              </a:rPr>
              <a:t>Id</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2895600" y="2571750"/>
            <a:ext cx="1581150" cy="0"/>
          </a:xfrm>
          <a:prstGeom xmlns:a="http://schemas.openxmlformats.org/drawingml/2006/main" prst="straightConnector1">
            <a:avLst/>
          </a:prstGeom>
          <a:ln xmlns:a="http://schemas.openxmlformats.org/drawingml/2006/main" w="23813">
            <a:solidFill>
              <a:srgbClr val="D98B5F"/>
            </a:solidFill>
            <a:prstDash val="solid"/>
            <a:headEnd type="triangle" w="sm" len="sm"/>
          </a:ln>
        </p:spPr>
      </p:cxnSp>
      <p:cxnSp>
        <p:nvCxnSpPr>
          <p:cNvPr id="22" name=""/>
          <p:cNvCxnSpPr>
            <a:stCxn xmlns:a="http://schemas.openxmlformats.org/drawingml/2006/main" id="7" idx="1"/>
            <a:endCxn xmlns:a="http://schemas.openxmlformats.org/drawingml/2006/main" id="6" idx="3"/>
          </p:cNvCxnSpPr>
          <p:nvPr/>
        </p:nvCxnSpPr>
        <p:spPr>
          <a:xfrm xmlns:a="http://schemas.openxmlformats.org/drawingml/2006/main" flipH="1">
            <a:off x="7524750" y="2571750"/>
            <a:ext cx="1771650" cy="0"/>
          </a:xfrm>
          <a:prstGeom xmlns:a="http://schemas.openxmlformats.org/drawingml/2006/main" prst="straightConnector1">
            <a:avLst/>
          </a:prstGeom>
          <a:ln xmlns:a="http://schemas.openxmlformats.org/drawingml/2006/main" w="23813">
            <a:solidFill>
              <a:srgbClr val="D98B5F"/>
            </a:solidFill>
            <a:headEnd type="triangle" w="sm" len="sm"/>
          </a:ln>
        </p:spPr>
      </p:cxnSp>
      <p:sp>
        <p:nvSpPr>
          <p:cNvPr id="10" name="">
            <a:extLst xmlns:a="http://schemas.openxmlformats.org/drawingml/2006/main">
              <a:ext uri="{FF2B5EF4-FFF2-40B4-BE49-F238E27FC236}">
                <a16:creationId xmlns:a16="http://schemas.microsoft.com/office/drawing/2014/main" id="{94B91988-A1B0-44DB-827F-9C91F59ED13D}"/>
              </a:ext>
            </a:extLst>
          </p:cNvPr>
          <p:cNvSpPr>
            <a:spLocks xmlns:a="http://schemas.openxmlformats.org/drawingml/2006/main" noGrp="1"/>
          </p:cNvSpPr>
          <p:nvPr/>
        </p:nvSpPr>
        <p:spPr>
          <a:xfrm xmlns:a="http://schemas.openxmlformats.org/drawingml/2006/main">
            <a:off x="609600" y="3238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0">
                <a:solidFill>
                  <a:srgbClr val="6F6258"/>
                </a:solidFill>
                <a:latin typeface="Arial"/>
                <a:ea typeface="Arial"/>
                <a:cs typeface="Arial"/>
              </a:defRPr>
            </a:pPr>
            <a:r>
              <a:rPr sz="1725" b="0">
                <a:solidFill>
                  <a:srgbClr val="6F6258"/>
                </a:solidFill>
                <a:latin typeface="Arial"/>
                <a:ea typeface="Arial"/>
                <a:cs typeface="Arial"/>
              </a:rPr>
              <a:t>Користувач має багато бронювань. Житло має багато бронювань.</a:t>
            </a:r>
          </a:p>
        </p:txBody>
      </p:sp>
      <p:sp>
        <p:nvSpPr>
          <p:cNvPr id="11" name="">
            <a:extLst xmlns:a="http://schemas.openxmlformats.org/drawingml/2006/main">
              <a:ext uri="{FF2B5EF4-FFF2-40B4-BE49-F238E27FC236}">
                <a16:creationId xmlns:a16="http://schemas.microsoft.com/office/drawing/2014/main" id="{84764B2F-29E9-4DB7-8DC9-7F5B176658CE}"/>
              </a:ext>
            </a:extLst>
          </p:cNvPr>
          <p:cNvSpPr>
            <a:spLocks xmlns:a="http://schemas.openxmlformats.org/drawingml/2006/main" noGrp="1"/>
          </p:cNvSpPr>
          <p:nvPr/>
        </p:nvSpPr>
        <p:spPr>
          <a:xfrm xmlns:a="http://schemas.openxmlformats.org/drawingml/2006/main">
            <a:off x="609600" y="4095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31251D"/>
                </a:solidFill>
                <a:latin typeface="Arial"/>
                <a:ea typeface="Arial"/>
                <a:cs typeface="Arial"/>
              </a:defRPr>
            </a:pPr>
            <a:r>
              <a:rPr sz="2025" b="1">
                <a:solidFill>
                  <a:srgbClr val="31251D"/>
                </a:solidFill>
                <a:latin typeface="Arial"/>
                <a:ea typeface="Arial"/>
                <a:cs typeface="Arial"/>
              </a:rPr>
              <a:t>Обране: зв’язок «багато до багатьох»</a:t>
            </a:r>
          </a:p>
        </p:txBody>
      </p:sp>
      <p:sp>
        <p:nvSpPr>
          <p:cNvPr id="12" name="">
            <a:extLst xmlns:a="http://schemas.openxmlformats.org/drawingml/2006/main">
              <a:ext uri="{FF2B5EF4-FFF2-40B4-BE49-F238E27FC236}">
                <a16:creationId xmlns:a16="http://schemas.microsoft.com/office/drawing/2014/main" id="{A60E866A-436B-4BA4-8BFF-3072F00A3295}"/>
              </a:ext>
            </a:extLst>
          </p:cNvPr>
          <p:cNvSpPr>
            <a:spLocks xmlns:a="http://schemas.openxmlformats.org/drawingml/2006/main" noGrp="1"/>
          </p:cNvSpPr>
          <p:nvPr/>
        </p:nvSpPr>
        <p:spPr>
          <a:xfrm xmlns:a="http://schemas.openxmlformats.org/drawingml/2006/main">
            <a:off x="609600" y="4810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75" b="1">
                <a:solidFill>
                  <a:srgbClr val="D98B5F"/>
                </a:solidFill>
                <a:latin typeface="Arial"/>
                <a:ea typeface="Arial"/>
                <a:cs typeface="Arial"/>
              </a:defRPr>
            </a:pPr>
            <a:r>
              <a:rPr sz="2175" b="1">
                <a:solidFill>
                  <a:srgbClr val="D98B5F"/>
                </a:solidFill>
                <a:latin typeface="Arial"/>
                <a:ea typeface="Arial"/>
                <a:cs typeface="Arial"/>
              </a:rPr>
              <a:t>Users     1 : N     Favorites     N : 1     Routes</a:t>
            </a:r>
          </a:p>
        </p:txBody>
      </p:sp>
      <p:sp>
        <p:nvSpPr>
          <p:cNvPr id="13" name="">
            <a:extLst xmlns:a="http://schemas.openxmlformats.org/drawingml/2006/main">
              <a:ext uri="{FF2B5EF4-FFF2-40B4-BE49-F238E27FC236}">
                <a16:creationId xmlns:a16="http://schemas.microsoft.com/office/drawing/2014/main" id="{9E14ED44-B4AC-4E89-A065-4B7DDDADFA08}"/>
              </a:ext>
            </a:extLst>
          </p:cNvPr>
          <p:cNvSpPr>
            <a:spLocks xmlns:a="http://schemas.openxmlformats.org/drawingml/2006/main" noGrp="1"/>
          </p:cNvSpPr>
          <p:nvPr/>
        </p:nvSpPr>
        <p:spPr>
          <a:xfrm xmlns:a="http://schemas.openxmlformats.org/drawingml/2006/main">
            <a:off x="609600" y="5381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0">
                <a:solidFill>
                  <a:srgbClr val="6F6258"/>
                </a:solidFill>
                <a:latin typeface="Arial"/>
                <a:ea typeface="Arial"/>
                <a:cs typeface="Arial"/>
              </a:defRPr>
            </a:pPr>
            <a:r>
              <a:rPr sz="1725" b="0">
                <a:solidFill>
                  <a:srgbClr val="6F6258"/>
                </a:solidFill>
                <a:latin typeface="Arial"/>
                <a:ea typeface="Arial"/>
                <a:cs typeface="Arial"/>
              </a:rPr>
              <a:t>Favorites зберігає пару UserId + RouteId. Складений ключ запобігає дублюванню.</a:t>
            </a:r>
          </a:p>
        </p:txBody>
      </p:sp>
    </p:spTree>
    <p:extLst>
      <p:ext uri="{BB962C8B-B14F-4D97-AF65-F5344CB8AC3E}">
        <p14:creationId xmlns:p14="http://schemas.microsoft.com/office/powerpoint/2010/main" val="443202907"/>
      </p:ext>
    </p:extLst>
  </p:cSld>
</p:sld>
</file>

<file path=ppt/slides/slide4.xml><?xml version="1.0" encoding="utf-8"?>
<p:sld xmlns:p="http://schemas.openxmlformats.org/presentationml/2006/main">
  <p:cSld>
    <p:bg>
      <p:bgPr>
        <a:solidFill xmlns:a="http://schemas.openxmlformats.org/drawingml/2006/main">
          <a:srgbClr val="F7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5DC76B-77DD-454E-9757-53784EDA29A5}"/>
              </a:ext>
            </a:extLst>
          </p:cNvPr>
          <p:cNvSpPr>
            <a:spLocks xmlns:a="http://schemas.openxmlformats.org/drawingml/2006/main" noGrp="1"/>
          </p:cNvSpPr>
          <p:nvPr/>
        </p:nvSpPr>
        <p:spPr>
          <a:xfrm xmlns:a="http://schemas.openxmlformats.org/drawingml/2006/main">
            <a:off x="60960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31251D"/>
                </a:solidFill>
                <a:latin typeface="Arial"/>
                <a:ea typeface="Arial"/>
                <a:cs typeface="Arial"/>
              </a:defRPr>
            </a:pPr>
            <a:r>
              <a:rPr sz="2250" b="1">
                <a:solidFill>
                  <a:srgbClr val="31251D"/>
                </a:solidFill>
                <a:latin typeface="Arial"/>
                <a:ea typeface="Arial"/>
                <a:cs typeface="Arial"/>
              </a:rPr>
              <a:t>Безпека та цілісність даних</a:t>
            </a:r>
          </a:p>
        </p:txBody>
      </p:sp>
      <p:sp>
        <p:nvSpPr>
          <p:cNvPr id="2" name="">
            <a:extLst xmlns:a="http://schemas.openxmlformats.org/drawingml/2006/main">
              <a:ext uri="{FF2B5EF4-FFF2-40B4-BE49-F238E27FC236}">
                <a16:creationId xmlns:a16="http://schemas.microsoft.com/office/drawing/2014/main" id="{E0DD9904-2A70-4703-A98A-C7587EFC0134}"/>
              </a:ext>
            </a:extLst>
          </p:cNvPr>
          <p:cNvSpPr>
            <a:spLocks xmlns:a="http://schemas.openxmlformats.org/drawingml/2006/main" noGrp="1"/>
          </p:cNvSpPr>
          <p:nvPr/>
        </p:nvSpPr>
        <p:spPr>
          <a:xfrm xmlns:a="http://schemas.openxmlformats.org/drawingml/2006/main">
            <a:off x="609600" y="990600"/>
            <a:ext cx="10972800" cy="0"/>
          </a:xfrm>
          <a:prstGeom xmlns:a="http://schemas.openxmlformats.org/drawingml/2006/main" prst="line">
            <a:avLst/>
          </a:prstGeom>
          <a:noFill xmlns:a="http://schemas.openxmlformats.org/drawingml/2006/main"/>
          <a:ln xmlns:a="http://schemas.openxmlformats.org/drawingml/2006/main" w="19050">
            <a:solidFill>
              <a:srgbClr val="D98B5F"/>
            </a:solidFill>
            <a:prstDash val="solid"/>
          </a:ln>
        </p:spPr>
      </p:sp>
      <p:sp>
        <p:nvSpPr>
          <p:cNvPr id="3" name="">
            <a:extLst xmlns:a="http://schemas.openxmlformats.org/drawingml/2006/main">
              <a:ext uri="{FF2B5EF4-FFF2-40B4-BE49-F238E27FC236}">
                <a16:creationId xmlns:a16="http://schemas.microsoft.com/office/drawing/2014/main" id="{167F7870-2F0E-4B66-8219-8F9D261EC5FC}"/>
              </a:ext>
            </a:extLst>
          </p:cNvPr>
          <p:cNvSpPr>
            <a:spLocks xmlns:a="http://schemas.openxmlformats.org/drawingml/2006/main" noGrp="1"/>
          </p:cNvSpPr>
          <p:nvPr/>
        </p:nvSpPr>
        <p:spPr>
          <a:xfrm xmlns:a="http://schemas.openxmlformats.org/drawingml/2006/main">
            <a:off x="10715625"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0">
                <a:solidFill>
                  <a:srgbClr val="6F6258"/>
                </a:solidFill>
                <a:latin typeface="Arial"/>
                <a:ea typeface="Arial"/>
                <a:cs typeface="Arial"/>
              </a:defRPr>
            </a:pPr>
            <a:r>
              <a:rPr sz="900" b="0">
                <a:solidFill>
                  <a:srgbClr val="6F6258"/>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DFE45D67-21BC-49FB-A268-BF75431ADC0D}"/>
              </a:ext>
            </a:extLst>
          </p:cNvPr>
          <p:cNvSpPr>
            <a:spLocks xmlns:a="http://schemas.openxmlformats.org/drawingml/2006/main" noGrp="1"/>
          </p:cNvSpPr>
          <p:nvPr/>
        </p:nvSpPr>
        <p:spPr>
          <a:xfrm xmlns:a="http://schemas.openxmlformats.org/drawingml/2006/main">
            <a:off x="609600" y="14763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Паролі та сесія</a:t>
            </a:r>
          </a:p>
        </p:txBody>
      </p:sp>
      <p:sp>
        <p:nvSpPr>
          <p:cNvPr id="5" name="">
            <a:extLst xmlns:a="http://schemas.openxmlformats.org/drawingml/2006/main">
              <a:ext uri="{FF2B5EF4-FFF2-40B4-BE49-F238E27FC236}">
                <a16:creationId xmlns:a16="http://schemas.microsoft.com/office/drawing/2014/main" id="{5D2A409D-492C-4497-B56F-7A1F86E667E1}"/>
              </a:ext>
            </a:extLst>
          </p:cNvPr>
          <p:cNvSpPr>
            <a:spLocks xmlns:a="http://schemas.openxmlformats.org/drawingml/2006/main" noGrp="1"/>
          </p:cNvSpPr>
          <p:nvPr/>
        </p:nvSpPr>
        <p:spPr>
          <a:xfrm xmlns:a="http://schemas.openxmlformats.org/drawingml/2006/main">
            <a:off x="3524250" y="147637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BCrypt-хеші паролів</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Access JWT і refresh-токен</a:t>
            </a:r>
          </a:p>
        </p:txBody>
      </p:sp>
      <p:sp>
        <p:nvSpPr>
          <p:cNvPr id="6" name="">
            <a:extLst xmlns:a="http://schemas.openxmlformats.org/drawingml/2006/main">
              <a:ext uri="{FF2B5EF4-FFF2-40B4-BE49-F238E27FC236}">
                <a16:creationId xmlns:a16="http://schemas.microsoft.com/office/drawing/2014/main" id="{6A44DEA3-3FFC-4EA2-912B-0E6DDFC9F417}"/>
              </a:ext>
            </a:extLst>
          </p:cNvPr>
          <p:cNvSpPr>
            <a:spLocks xmlns:a="http://schemas.openxmlformats.org/drawingml/2006/main" noGrp="1"/>
          </p:cNvSpPr>
          <p:nvPr/>
        </p:nvSpPr>
        <p:spPr>
          <a:xfrm xmlns:a="http://schemas.openxmlformats.org/drawingml/2006/main">
            <a:off x="609600" y="27146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Права доступу</a:t>
            </a:r>
          </a:p>
        </p:txBody>
      </p:sp>
      <p:sp>
        <p:nvSpPr>
          <p:cNvPr id="7" name="">
            <a:extLst xmlns:a="http://schemas.openxmlformats.org/drawingml/2006/main">
              <a:ext uri="{FF2B5EF4-FFF2-40B4-BE49-F238E27FC236}">
                <a16:creationId xmlns:a16="http://schemas.microsoft.com/office/drawing/2014/main" id="{5CB43886-B791-4207-8634-2960660E518A}"/>
              </a:ext>
            </a:extLst>
          </p:cNvPr>
          <p:cNvSpPr>
            <a:spLocks xmlns:a="http://schemas.openxmlformats.org/drawingml/2006/main" noGrp="1"/>
          </p:cNvSpPr>
          <p:nvPr/>
        </p:nvSpPr>
        <p:spPr>
          <a:xfrm xmlns:a="http://schemas.openxmlformats.org/drawingml/2006/main">
            <a:off x="3524250" y="271462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API перевіряє роль і власника ресурсу</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Діалог доступний гостю та власнику житла</a:t>
            </a:r>
          </a:p>
        </p:txBody>
      </p:sp>
      <p:sp>
        <p:nvSpPr>
          <p:cNvPr id="8" name="">
            <a:extLst xmlns:a="http://schemas.openxmlformats.org/drawingml/2006/main">
              <a:ext uri="{FF2B5EF4-FFF2-40B4-BE49-F238E27FC236}">
                <a16:creationId xmlns:a16="http://schemas.microsoft.com/office/drawing/2014/main" id="{8E069499-7203-463A-AB7E-E9ED4954595E}"/>
              </a:ext>
            </a:extLst>
          </p:cNvPr>
          <p:cNvSpPr>
            <a:spLocks xmlns:a="http://schemas.openxmlformats.org/drawingml/2006/main" noGrp="1"/>
          </p:cNvSpPr>
          <p:nvPr/>
        </p:nvSpPr>
        <p:spPr>
          <a:xfrm xmlns:a="http://schemas.openxmlformats.org/drawingml/2006/main">
            <a:off x="609600" y="39528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Бронювання</a:t>
            </a:r>
          </a:p>
        </p:txBody>
      </p:sp>
      <p:sp>
        <p:nvSpPr>
          <p:cNvPr id="9" name="">
            <a:extLst xmlns:a="http://schemas.openxmlformats.org/drawingml/2006/main">
              <a:ext uri="{FF2B5EF4-FFF2-40B4-BE49-F238E27FC236}">
                <a16:creationId xmlns:a16="http://schemas.microsoft.com/office/drawing/2014/main" id="{D2DB8D0F-6FBA-44BC-B37A-1FFBBE2916A8}"/>
              </a:ext>
            </a:extLst>
          </p:cNvPr>
          <p:cNvSpPr>
            <a:spLocks xmlns:a="http://schemas.openxmlformats.org/drawingml/2006/main" noGrp="1"/>
          </p:cNvSpPr>
          <p:nvPr/>
        </p:nvSpPr>
        <p:spPr>
          <a:xfrm xmlns:a="http://schemas.openxmlformats.org/drawingml/2006/main">
            <a:off x="3524250" y="395287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Сервер перевіряє дані та розраховує ціну</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PostgreSQL забороняє перетин активних бронювань</a:t>
            </a:r>
          </a:p>
        </p:txBody>
      </p:sp>
      <p:sp>
        <p:nvSpPr>
          <p:cNvPr id="10" name="">
            <a:extLst xmlns:a="http://schemas.openxmlformats.org/drawingml/2006/main">
              <a:ext uri="{FF2B5EF4-FFF2-40B4-BE49-F238E27FC236}">
                <a16:creationId xmlns:a16="http://schemas.microsoft.com/office/drawing/2014/main" id="{F4B73C48-30A4-4EB1-B4E0-C312096EE3F4}"/>
              </a:ext>
            </a:extLst>
          </p:cNvPr>
          <p:cNvSpPr>
            <a:spLocks xmlns:a="http://schemas.openxmlformats.org/drawingml/2006/main" noGrp="1"/>
          </p:cNvSpPr>
          <p:nvPr/>
        </p:nvSpPr>
        <p:spPr>
          <a:xfrm xmlns:a="http://schemas.openxmlformats.org/drawingml/2006/main">
            <a:off x="609600" y="5572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1">
                <a:solidFill>
                  <a:srgbClr val="31251D"/>
                </a:solidFill>
                <a:latin typeface="Arial"/>
                <a:ea typeface="Arial"/>
                <a:cs typeface="Arial"/>
              </a:defRPr>
            </a:pPr>
            <a:r>
              <a:rPr sz="1875" b="1">
                <a:solidFill>
                  <a:srgbClr val="31251D"/>
                </a:solidFill>
                <a:latin typeface="Arial"/>
                <a:ea typeface="Arial"/>
                <a:cs typeface="Arial"/>
              </a:rPr>
              <a:t>Автоматичні тести перевіряють бізнес-правила та доступ до API</a:t>
            </a:r>
          </a:p>
        </p:txBody>
      </p:sp>
    </p:spTree>
    <p:extLst>
      <p:ext uri="{BB962C8B-B14F-4D97-AF65-F5344CB8AC3E}">
        <p14:creationId xmlns:p14="http://schemas.microsoft.com/office/powerpoint/2010/main" val="1190138236"/>
      </p:ext>
    </p:extLst>
  </p:cSld>
</p:sld>
</file>

<file path=ppt/slides/slide5.xml><?xml version="1.0" encoding="utf-8"?>
<p:sld xmlns:p="http://schemas.openxmlformats.org/presentationml/2006/main">
  <p:cSld>
    <p:bg>
      <p:bgPr>
        <a:solidFill xmlns:a="http://schemas.openxmlformats.org/drawingml/2006/main">
          <a:srgbClr val="F7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6312F8-4F27-4CA8-AF83-D41FA56C2B5B}"/>
              </a:ext>
            </a:extLst>
          </p:cNvPr>
          <p:cNvSpPr>
            <a:spLocks xmlns:a="http://schemas.openxmlformats.org/drawingml/2006/main" noGrp="1"/>
          </p:cNvSpPr>
          <p:nvPr/>
        </p:nvSpPr>
        <p:spPr>
          <a:xfrm xmlns:a="http://schemas.openxmlformats.org/drawingml/2006/main">
            <a:off x="60960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250" b="1">
                <a:solidFill>
                  <a:srgbClr val="31251D"/>
                </a:solidFill>
                <a:latin typeface="Arial"/>
                <a:ea typeface="Arial"/>
                <a:cs typeface="Arial"/>
              </a:defRPr>
            </a:pPr>
            <a:r>
              <a:rPr sz="2250" b="1">
                <a:solidFill>
                  <a:srgbClr val="31251D"/>
                </a:solidFill>
                <a:latin typeface="Arial"/>
                <a:ea typeface="Arial"/>
                <a:cs typeface="Arial"/>
              </a:rPr>
              <a:t>Доопрацювання перед повноцінним запуском</a:t>
            </a:r>
          </a:p>
        </p:txBody>
      </p:sp>
      <p:sp>
        <p:nvSpPr>
          <p:cNvPr id="2" name="">
            <a:extLst xmlns:a="http://schemas.openxmlformats.org/drawingml/2006/main">
              <a:ext uri="{FF2B5EF4-FFF2-40B4-BE49-F238E27FC236}">
                <a16:creationId xmlns:a16="http://schemas.microsoft.com/office/drawing/2014/main" id="{237E8CBC-0EA0-4AE1-B551-0F62C2FD4A83}"/>
              </a:ext>
            </a:extLst>
          </p:cNvPr>
          <p:cNvSpPr>
            <a:spLocks xmlns:a="http://schemas.openxmlformats.org/drawingml/2006/main" noGrp="1"/>
          </p:cNvSpPr>
          <p:nvPr/>
        </p:nvSpPr>
        <p:spPr>
          <a:xfrm xmlns:a="http://schemas.openxmlformats.org/drawingml/2006/main">
            <a:off x="609600" y="990600"/>
            <a:ext cx="10972800" cy="0"/>
          </a:xfrm>
          <a:prstGeom xmlns:a="http://schemas.openxmlformats.org/drawingml/2006/main" prst="line">
            <a:avLst/>
          </a:prstGeom>
          <a:noFill xmlns:a="http://schemas.openxmlformats.org/drawingml/2006/main"/>
          <a:ln xmlns:a="http://schemas.openxmlformats.org/drawingml/2006/main" w="19050">
            <a:solidFill>
              <a:srgbClr val="D98B5F"/>
            </a:solidFill>
            <a:prstDash val="solid"/>
          </a:ln>
        </p:spPr>
      </p:sp>
      <p:sp>
        <p:nvSpPr>
          <p:cNvPr id="3" name="">
            <a:extLst xmlns:a="http://schemas.openxmlformats.org/drawingml/2006/main">
              <a:ext uri="{FF2B5EF4-FFF2-40B4-BE49-F238E27FC236}">
                <a16:creationId xmlns:a16="http://schemas.microsoft.com/office/drawing/2014/main" id="{B01A8FEE-8AD8-4C29-9396-F7AE30EB55EA}"/>
              </a:ext>
            </a:extLst>
          </p:cNvPr>
          <p:cNvSpPr>
            <a:spLocks xmlns:a="http://schemas.openxmlformats.org/drawingml/2006/main" noGrp="1"/>
          </p:cNvSpPr>
          <p:nvPr/>
        </p:nvSpPr>
        <p:spPr>
          <a:xfrm xmlns:a="http://schemas.openxmlformats.org/drawingml/2006/main">
            <a:off x="10715625"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0">
                <a:solidFill>
                  <a:srgbClr val="6F6258"/>
                </a:solidFill>
                <a:latin typeface="Arial"/>
                <a:ea typeface="Arial"/>
                <a:cs typeface="Arial"/>
              </a:defRPr>
            </a:pPr>
            <a:r>
              <a:rPr sz="900" b="0">
                <a:solidFill>
                  <a:srgbClr val="6F6258"/>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B2674FCE-302D-40A5-AD89-BCCCB1728F52}"/>
              </a:ext>
            </a:extLst>
          </p:cNvPr>
          <p:cNvSpPr>
            <a:spLocks xmlns:a="http://schemas.openxmlformats.org/drawingml/2006/main" noGrp="1"/>
          </p:cNvSpPr>
          <p:nvPr/>
        </p:nvSpPr>
        <p:spPr>
          <a:xfrm xmlns:a="http://schemas.openxmlformats.org/drawingml/2006/main">
            <a:off x="609600" y="13811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Live-сценарії</a:t>
            </a:r>
          </a:p>
        </p:txBody>
      </p:sp>
      <p:sp>
        <p:nvSpPr>
          <p:cNvPr id="5" name="">
            <a:extLst xmlns:a="http://schemas.openxmlformats.org/drawingml/2006/main">
              <a:ext uri="{FF2B5EF4-FFF2-40B4-BE49-F238E27FC236}">
                <a16:creationId xmlns:a16="http://schemas.microsoft.com/office/drawing/2014/main" id="{C197716B-47AA-41C2-984B-73325BF0EE45}"/>
              </a:ext>
            </a:extLst>
          </p:cNvPr>
          <p:cNvSpPr>
            <a:spLocks xmlns:a="http://schemas.openxmlformats.org/drawingml/2006/main" noGrp="1"/>
          </p:cNvSpPr>
          <p:nvPr/>
        </p:nvSpPr>
        <p:spPr>
          <a:xfrm xmlns:a="http://schemas.openxmlformats.org/drawingml/2006/main">
            <a:off x="3524250" y="138112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Підготувати реальні оголошення й бронювання</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Перевірити чат двома акаунтами та весь шлях користувача</a:t>
            </a:r>
          </a:p>
        </p:txBody>
      </p:sp>
      <p:sp>
        <p:nvSpPr>
          <p:cNvPr id="6" name="">
            <a:extLst xmlns:a="http://schemas.openxmlformats.org/drawingml/2006/main">
              <a:ext uri="{FF2B5EF4-FFF2-40B4-BE49-F238E27FC236}">
                <a16:creationId xmlns:a16="http://schemas.microsoft.com/office/drawing/2014/main" id="{AF78FF27-28C7-454C-B26E-49F27AD12CCD}"/>
              </a:ext>
            </a:extLst>
          </p:cNvPr>
          <p:cNvSpPr>
            <a:spLocks xmlns:a="http://schemas.openxmlformats.org/drawingml/2006/main" noGrp="1"/>
          </p:cNvSpPr>
          <p:nvPr/>
        </p:nvSpPr>
        <p:spPr>
          <a:xfrm xmlns:a="http://schemas.openxmlformats.org/drawingml/2006/main">
            <a:off x="609600" y="26670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Підтримка</a:t>
            </a:r>
          </a:p>
        </p:txBody>
      </p:sp>
      <p:sp>
        <p:nvSpPr>
          <p:cNvPr id="7" name="">
            <a:extLst xmlns:a="http://schemas.openxmlformats.org/drawingml/2006/main">
              <a:ext uri="{FF2B5EF4-FFF2-40B4-BE49-F238E27FC236}">
                <a16:creationId xmlns:a16="http://schemas.microsoft.com/office/drawing/2014/main" id="{2C42625D-E477-4C22-B16C-0F01BA1C9A94}"/>
              </a:ext>
            </a:extLst>
          </p:cNvPr>
          <p:cNvSpPr>
            <a:spLocks xmlns:a="http://schemas.openxmlformats.org/drawingml/2006/main" noGrp="1"/>
          </p:cNvSpPr>
          <p:nvPr/>
        </p:nvSpPr>
        <p:spPr>
          <a:xfrm xmlns:a="http://schemas.openxmlformats.org/drawingml/2006/main">
            <a:off x="3524250" y="2667000"/>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Зберігати звернення в PostgreSQL</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Додати перегляд і зміну статусу в адмінці</a:t>
            </a:r>
          </a:p>
        </p:txBody>
      </p:sp>
      <p:sp>
        <p:nvSpPr>
          <p:cNvPr id="8" name="">
            <a:extLst xmlns:a="http://schemas.openxmlformats.org/drawingml/2006/main">
              <a:ext uri="{FF2B5EF4-FFF2-40B4-BE49-F238E27FC236}">
                <a16:creationId xmlns:a16="http://schemas.microsoft.com/office/drawing/2014/main" id="{428B32FB-9E0A-400D-A2C7-5B355F010F27}"/>
              </a:ext>
            </a:extLst>
          </p:cNvPr>
          <p:cNvSpPr>
            <a:spLocks xmlns:a="http://schemas.openxmlformats.org/drawingml/2006/main" noGrp="1"/>
          </p:cNvSpPr>
          <p:nvPr/>
        </p:nvSpPr>
        <p:spPr>
          <a:xfrm xmlns:a="http://schemas.openxmlformats.org/drawingml/2006/main">
            <a:off x="609600" y="39528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98B5F"/>
                </a:solidFill>
                <a:latin typeface="Arial"/>
                <a:ea typeface="Arial"/>
                <a:cs typeface="Arial"/>
              </a:defRPr>
            </a:pPr>
            <a:r>
              <a:rPr sz="1950" b="1">
                <a:solidFill>
                  <a:srgbClr val="D98B5F"/>
                </a:solidFill>
                <a:latin typeface="Arial"/>
                <a:ea typeface="Arial"/>
                <a:cs typeface="Arial"/>
              </a:rPr>
              <a:t>Експлуатація</a:t>
            </a:r>
          </a:p>
        </p:txBody>
      </p:sp>
      <p:sp>
        <p:nvSpPr>
          <p:cNvPr id="9" name="">
            <a:extLst xmlns:a="http://schemas.openxmlformats.org/drawingml/2006/main">
              <a:ext uri="{FF2B5EF4-FFF2-40B4-BE49-F238E27FC236}">
                <a16:creationId xmlns:a16="http://schemas.microsoft.com/office/drawing/2014/main" id="{8D523DEC-52F1-440B-9BFC-391A2A6EB112}"/>
              </a:ext>
            </a:extLst>
          </p:cNvPr>
          <p:cNvSpPr>
            <a:spLocks xmlns:a="http://schemas.openxmlformats.org/drawingml/2006/main" noGrp="1"/>
          </p:cNvSpPr>
          <p:nvPr/>
        </p:nvSpPr>
        <p:spPr>
          <a:xfrm xmlns:a="http://schemas.openxmlformats.org/drawingml/2006/main">
            <a:off x="3524250" y="395287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Перевірити резервне копіювання та відновлення БД</a:t>
            </a:r>
          </a:p>
          <a:p xmlns:a="http://schemas.openxmlformats.org/drawingml/2006/main">
            <a:pPr algn="l">
              <a:defRPr sz="1875" b="0">
                <a:solidFill>
                  <a:srgbClr val="31251D"/>
                </a:solidFill>
                <a:latin typeface="Arial"/>
                <a:ea typeface="Arial"/>
                <a:cs typeface="Arial"/>
              </a:defRPr>
            </a:pPr>
            <a:r>
              <a:rPr sz="1875" b="0">
                <a:solidFill>
                  <a:srgbClr val="31251D"/>
                </a:solidFill>
                <a:latin typeface="Arial"/>
                <a:ea typeface="Arial"/>
                <a:cs typeface="Arial"/>
              </a:rPr>
              <a:t>Налаштувати моніторинг помилок і навантажувальні перевірки</a:t>
            </a:r>
          </a:p>
        </p:txBody>
      </p:sp>
      <p:sp>
        <p:nvSpPr>
          <p:cNvPr id="10" name="">
            <a:extLst xmlns:a="http://schemas.openxmlformats.org/drawingml/2006/main">
              <a:ext uri="{FF2B5EF4-FFF2-40B4-BE49-F238E27FC236}">
                <a16:creationId xmlns:a16="http://schemas.microsoft.com/office/drawing/2014/main" id="{88D0627A-6A60-490F-A369-AA204D0D11F0}"/>
              </a:ext>
            </a:extLst>
          </p:cNvPr>
          <p:cNvSpPr>
            <a:spLocks xmlns:a="http://schemas.openxmlformats.org/drawingml/2006/main" noGrp="1"/>
          </p:cNvSpPr>
          <p:nvPr/>
        </p:nvSpPr>
        <p:spPr>
          <a:xfrm xmlns:a="http://schemas.openxmlformats.org/drawingml/2006/main">
            <a:off x="609600" y="52578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0">
                <a:solidFill>
                  <a:srgbClr val="6F6258"/>
                </a:solidFill>
                <a:latin typeface="Arial"/>
                <a:ea typeface="Arial"/>
                <a:cs typeface="Arial"/>
              </a:defRPr>
            </a:pPr>
            <a:r>
              <a:rPr sz="1725" b="0">
                <a:solidFill>
                  <a:srgbClr val="6F6258"/>
                </a:solidFill>
                <a:latin typeface="Arial"/>
                <a:ea typeface="Arial"/>
                <a:cs typeface="Arial"/>
              </a:rPr>
              <a:t>Реальні платежі й фінансові операції потребують окремого етапу розробки</a:t>
            </a:r>
          </a:p>
        </p:txBody>
      </p:sp>
      <p:sp>
        <p:nvSpPr>
          <p:cNvPr id="11" name="">
            <a:extLst xmlns:a="http://schemas.openxmlformats.org/drawingml/2006/main">
              <a:ext uri="{FF2B5EF4-FFF2-40B4-BE49-F238E27FC236}">
                <a16:creationId xmlns:a16="http://schemas.microsoft.com/office/drawing/2014/main" id="{5318A8AF-6F8F-4FD0-BA94-111DA2653DF7}"/>
              </a:ext>
            </a:extLst>
          </p:cNvPr>
          <p:cNvSpPr>
            <a:spLocks xmlns:a="http://schemas.openxmlformats.org/drawingml/2006/main" noGrp="1"/>
          </p:cNvSpPr>
          <p:nvPr/>
        </p:nvSpPr>
        <p:spPr>
          <a:xfrm xmlns:a="http://schemas.openxmlformats.org/drawingml/2006/main">
            <a:off x="609600" y="6000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D98B5F"/>
                </a:solidFill>
                <a:latin typeface="Arial"/>
                <a:ea typeface="Arial"/>
                <a:cs typeface="Arial"/>
              </a:defRPr>
            </a:pPr>
            <a:r>
              <a:rPr sz="2025" b="1">
                <a:solidFill>
                  <a:srgbClr val="D98B5F"/>
                </a:solidFill>
                <a:latin typeface="Arial"/>
                <a:ea typeface="Arial"/>
                <a:cs typeface="Arial"/>
              </a:rPr>
              <a:t>Далі: демонстрація сайту</a:t>
            </a:r>
          </a:p>
        </p:txBody>
      </p:sp>
    </p:spTree>
    <p:extLst>
      <p:ext uri="{BB962C8B-B14F-4D97-AF65-F5344CB8AC3E}">
        <p14:creationId xmlns:p14="http://schemas.microsoft.com/office/powerpoint/2010/main" val="2356517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2026-10-07T16:11:12.9030000Z</dcterms:created>
  <dcterms:modified xsi:type="dcterms:W3CDTF">2026-10-07T16:11:12.9030000Z</dcterms:modified>
</coreProperties>
</file>