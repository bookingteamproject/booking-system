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7069c977f04253" /><Relationship Type="http://schemas.openxmlformats.org/officeDocument/2006/relationships/extended-properties" Target="/docProps/app.xml" Id="R3847593f028a4a97" /><Relationship Type="http://schemas.openxmlformats.org/officeDocument/2006/relationships/officeDocument" Target="/ppt/presentation.xml" Id="R148f8c6e92be4c86" /></Relationships>
</file>

<file path=ppt/presentation.xml><?xml version="1.0" encoding="utf-8"?>
<p:presentation xmlns:p="http://schemas.openxmlformats.org/presentationml/2006/main">
  <p:sldMasterIdLst>
    <p:sldMasterId xmlns:r="http://schemas.openxmlformats.org/officeDocument/2006/relationships" id="2147483648" r:id="R3c20207ffb8d4b10"/>
  </p:sldMasterIdLst>
  <p:notesMasterIdLst>
    <p:notesMasterId xmlns:r="http://schemas.openxmlformats.org/officeDocument/2006/relationships" r:id="R8105fa67feac4050"/>
  </p:notesMasterIdLst>
  <p:sldIdLst>
    <p:sldId xmlns:r="http://schemas.openxmlformats.org/officeDocument/2006/relationships" id="256" r:id="R8f99ed819f254f6c"/>
    <p:sldId xmlns:r="http://schemas.openxmlformats.org/officeDocument/2006/relationships" id="257" r:id="R69a9bb4c33a54d41"/>
    <p:sldId xmlns:r="http://schemas.openxmlformats.org/officeDocument/2006/relationships" id="258" r:id="R2176333ac2d8435d"/>
    <p:sldId xmlns:r="http://schemas.openxmlformats.org/officeDocument/2006/relationships" id="259" r:id="R2fc3acc359b74edb"/>
    <p:sldId xmlns:r="http://schemas.openxmlformats.org/officeDocument/2006/relationships" id="260" r:id="R7a07adf96ff34021"/>
    <p:sldId xmlns:r="http://schemas.openxmlformats.org/officeDocument/2006/relationships" id="261" r:id="R5ca266f122554841"/>
    <p:sldId xmlns:r="http://schemas.openxmlformats.org/officeDocument/2006/relationships" id="262" r:id="Rb9cef300f5bb4c18"/>
    <p:sldId xmlns:r="http://schemas.openxmlformats.org/officeDocument/2006/relationships" id="263" r:id="R11c068e1602c43a1"/>
    <p:sldId xmlns:r="http://schemas.openxmlformats.org/officeDocument/2006/relationships" id="264" r:id="Rdd7063937f184aee"/>
    <p:sldId xmlns:r="http://schemas.openxmlformats.org/officeDocument/2006/relationships" id="265" r:id="Rc8c2931b5e8a4ba0"/>
    <p:sldId xmlns:r="http://schemas.openxmlformats.org/officeDocument/2006/relationships" id="266" r:id="R0f197bedb1b945f3"/>
    <p:sldId xmlns:r="http://schemas.openxmlformats.org/officeDocument/2006/relationships" id="267" r:id="R17a8638f5dd847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486e9de6714e0b" /><Relationship Type="http://schemas.openxmlformats.org/officeDocument/2006/relationships/slideMaster" Target="/ppt/slideMasters/slideMaster1.xml" Id="R3c20207ffb8d4b10" /><Relationship Type="http://schemas.openxmlformats.org/officeDocument/2006/relationships/notesMaster" Target="/ppt/notesMasters/notesMaster1.xml" Id="R8105fa67feac4050" /><Relationship Type="http://schemas.openxmlformats.org/officeDocument/2006/relationships/presProps" Target="/ppt/presProps.xml" Id="Rc06b9b094d934ba4" /><Relationship Type="http://schemas.openxmlformats.org/officeDocument/2006/relationships/tableStyles" Target="/ppt/tableStyles.xml" Id="R06780850a9814e70" /><Relationship Type="http://schemas.openxmlformats.org/officeDocument/2006/relationships/slide" Target="/ppt/slides/slide1.xml" Id="R8f99ed819f254f6c" /><Relationship Type="http://schemas.openxmlformats.org/officeDocument/2006/relationships/slide" Target="/ppt/slides/slide2.xml" Id="R69a9bb4c33a54d41" /><Relationship Type="http://schemas.openxmlformats.org/officeDocument/2006/relationships/slide" Target="/ppt/slides/slide3.xml" Id="R2176333ac2d8435d" /><Relationship Type="http://schemas.openxmlformats.org/officeDocument/2006/relationships/slide" Target="/ppt/slides/slide4.xml" Id="R2fc3acc359b74edb" /><Relationship Type="http://schemas.openxmlformats.org/officeDocument/2006/relationships/slide" Target="/ppt/slides/slide5.xml" Id="R7a07adf96ff34021" /><Relationship Type="http://schemas.openxmlformats.org/officeDocument/2006/relationships/slide" Target="/ppt/slides/slide6.xml" Id="R5ca266f122554841" /><Relationship Type="http://schemas.openxmlformats.org/officeDocument/2006/relationships/slide" Target="/ppt/slides/slide7.xml" Id="Rb9cef300f5bb4c18" /><Relationship Type="http://schemas.openxmlformats.org/officeDocument/2006/relationships/slide" Target="/ppt/slides/slide8.xml" Id="R11c068e1602c43a1" /><Relationship Type="http://schemas.openxmlformats.org/officeDocument/2006/relationships/slide" Target="/ppt/slides/slide9.xml" Id="Rdd7063937f184aee" /><Relationship Type="http://schemas.openxmlformats.org/officeDocument/2006/relationships/slide" Target="/ppt/slides/slide10.xml" Id="Rc8c2931b5e8a4ba0" /><Relationship Type="http://schemas.openxmlformats.org/officeDocument/2006/relationships/slide" Target="/ppt/slides/slide11.xml" Id="R0f197bedb1b945f3" /><Relationship Type="http://schemas.openxmlformats.org/officeDocument/2006/relationships/slide" Target="/ppt/slides/slide12.xml" Id="R17a8638f5dd847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e62101b5bd42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7b6ae7bf5c4f33" /><Relationship Type="http://schemas.openxmlformats.org/officeDocument/2006/relationships/notesMaster" Target="/ppt/notesMasters/notesMaster1.xml" Id="R8568b86af8b947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9d670db7414520" /><Relationship Type="http://schemas.openxmlformats.org/officeDocument/2006/relationships/notesMaster" Target="/ppt/notesMasters/notesMaster1.xml" Id="Rd29cf574bcc549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a7b7622738435c" /><Relationship Type="http://schemas.openxmlformats.org/officeDocument/2006/relationships/notesMaster" Target="/ppt/notesMasters/notesMaster1.xml" Id="R0960f15c7e4944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aa1f60ea854421" /><Relationship Type="http://schemas.openxmlformats.org/officeDocument/2006/relationships/notesMaster" Target="/ppt/notesMasters/notesMaster1.xml" Id="R122760bdd4e845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0ce4e2447847c9" /><Relationship Type="http://schemas.openxmlformats.org/officeDocument/2006/relationships/notesMaster" Target="/ppt/notesMasters/notesMaster1.xml" Id="Rb1a2f6267dfa4d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75794fbbdb4400" /><Relationship Type="http://schemas.openxmlformats.org/officeDocument/2006/relationships/notesMaster" Target="/ppt/notesMasters/notesMaster1.xml" Id="Rf8431970164b4d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19afb7e2134526" /><Relationship Type="http://schemas.openxmlformats.org/officeDocument/2006/relationships/notesMaster" Target="/ppt/notesMasters/notesMaster1.xml" Id="R7fd5ec2c0a8644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2a830c078a4c62" /><Relationship Type="http://schemas.openxmlformats.org/officeDocument/2006/relationships/notesMaster" Target="/ppt/notesMasters/notesMaster1.xml" Id="R3a0ac22b0d3549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c6fe519b6e4317" /><Relationship Type="http://schemas.openxmlformats.org/officeDocument/2006/relationships/notesMaster" Target="/ppt/notesMasters/notesMaster1.xml" Id="R3568e2a7d77c4a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40efe194b745fa" /><Relationship Type="http://schemas.openxmlformats.org/officeDocument/2006/relationships/notesMaster" Target="/ppt/notesMasters/notesMaster1.xml" Id="R5cb439178d1a4b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7dd9aec1ce410e" /><Relationship Type="http://schemas.openxmlformats.org/officeDocument/2006/relationships/notesMaster" Target="/ppt/notesMasters/notesMaster1.xml" Id="R5bfc1a5ac2174a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828db862004395" /><Relationship Type="http://schemas.openxmlformats.org/officeDocument/2006/relationships/notesMaster" Target="/ppt/notesMasters/notesMaster1.xml" Id="R6a51b472da824e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1, 0:00–0:20. Назвіть себе та колегу. Представляємо програмну частину всього проєкту: можливості, архітектуру, дані та демонстрацію. Дизайн та інфраструктуру представляють відповідні учасники команди. Джерело: docs/DEFENSE_GUIDE.md.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1, 0:20–1:05. Поясніть задачу всього продукту: поєднати пошук житла, бронювання та контакт із власником. Різні ролі працюють зі спільними даними, але мають різні права. Основний результат — завершений сценарій збереження заявки та її підтвердження. Джерела: docs/BOOKINGS.md; docs/ADMIN.md.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1, 1:05–1:55. Перерахуйте модулі як частини єдиного сайту, не як список останніх виправлень. Каталог допомагає обрати об’єкт, картка містить деталі, карта показує розташування. Власник працює зі своїми оголошеннями, гість — зі своїми заявками. Фінансові екрани окремо позначені як demo. Джерела: frontend/src/pages; Controllers/RoutesController.cs, ReviewController.cs, FavoriteController.cs.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1, 1:55–2:55. SPA перемикає сторінки через маршрути. Axios передає запити до API, компоненти відображають завантаження, результат або помилку. TypeScript узгоджує структуру даних під час розробки, але сервер усе одно перевіряє вхідні значення. Спільні форми й аватари скорочують дублювання. Адаптивність перевіряли на ключових екранах, не на кожному пристрої. Джерела: frontend/package.json; frontend/src/components; 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1, 2:55–3:50. Налаштування мови не потрібно вручну передавати кожній сторінці. Повнота перекладу ще обмежена. Компоненти отримують репозиторії через контекст, а конфігурація визначає джерело. Помилка live API не підміняється demo. Авторизація серверна в обох режимах. Перемикання готових адаптерів централізоване, але нова реальна функція потребує API. Передайте слово другому програмісту. Джерело: docs/DATA_SOURCES.md.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2, 3:50–4:55. На прикладі заявки поясніть шлях запиту: контролер отримує DTO, сервіс перевіряє користувача та дати, EF Core зберігає запис, API повертає результат. Це слоистий моноліт. Адмінконтролер використовує DbContext напряму, тому не називайте архітектуру строгою Clean Architecture. Вибір технологій дозволяє типізувати модель та керувати схемою міграціями. Джерела: backend projects; docs/DEFENSE_GUIDE.md.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2, 4:55–5:50. Покажіть головні зв’язки, не перелічуйте всі стовпці. У бронюванні зберігається розрахована сума, тому зміна ціни оголошення не переписує історію заявки. ChatMessages.DialogId містить UUID бронювання рядком, окремого FK на Booking немає: доступ перевіряє сервіс. Це огляд моделі, повна схема міститься в AppDbContext та міграціях. Джерело: docs/DEFENSE_GUIDE.md.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2, 5:50–6:50. Два одночасні запити можуть пройти попередню перевірку, тому PostgreSQL exclusion constraint остаточно забороняє перетин активних бронювань. Виїзд і наступний заїзд можуть мати одну дату. Сервер перевіряє учасника чату при кожному запиті, сторонній користувач не отримує переписку. Оновлення чату ручне, realtime не реалізовано. Джерела: BookingService.cs; ChatService.cs; docs/BOOKINGS.md.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2, 6:50–7:40. Прихованої кнопки недостатньо: права перевіряє сервер. Головний Admin може призначати інших Admin, його акаунт захищений від звичайних адміністративних дій. Зміна прав або блокування відкликає старі токени через AuthVersion. Видалення логічне. Телефон є логіном із паролем, SMS-підтвердження немає. Джерела: docs/ADMIN.md; AuthService.cs; Program.cs.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2, 7:40–8:20. Тести перевіряють відмову при неправильних правах і конфліктах, а не лише успішні запити. В останньому прогоні 25 backend і 15 frontend тестів пройшли, 3 PostgreSQL тести пропущено через збій Docker. Попередній повний PostgreSQL прогін не замінює перевірку нової міграції телефона. Не називайте кількість тестів відсотком покриття. Перед показом перевірте актуальні результати. Джерело: 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Обидва спікери, 8:20–11:20, рівно 3 хвилини. 0:00–0:45: перший показує каталог та створює заявку на підготовлене житло. 0:45–1:30: другий у профілі власника підтверджує заявку. 1:30–2:15: перший надсилає повідомлення, другий оновлює чат, показуємо збереження після перезавантаження. 2:15–3:00: другий показує пошук і статистику адмінки. Авторизуйте тестові профілі заздалегідь. Не витрачайте час на реєстрацію, міграції або створення оголошення на сцені. Джерела: docs/BOOKINGS.md; docs/ADMIN.md.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Спікер 1, 11:20–12:00. Підсумуйте весь програмний результат: каталог, оголошення, облікові записи, заявки, переписка й адміністрування працюють як пов’язані модулі. Реальний еквайринг свідомо поза дипломним обсягом. Подальші роботи: перевірка міграції PostgreSQL, повний прохід опублікованого сайту, ширше тестування пристроїв та навантаження. Передайте слово наступному учаснику або комісії згідно з загальним планом. Джерела: docs/DEFENSE_GUIDE.md; 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5bc54da5f144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2a496668d74abc" /><Relationship Type="http://schemas.openxmlformats.org/officeDocument/2006/relationships/slideLayout" Target="/ppt/slideLayouts/slideLayout1.xml" Id="R8fb3f0986c9643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b3f0986c9643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24d3b66b404508" /><Relationship Type="http://schemas.openxmlformats.org/officeDocument/2006/relationships/notesSlide" Target="/ppt/notesSlides/notesSlide1.xml" Id="R0379dd859add4e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4db5a96aae4918" /><Relationship Type="http://schemas.openxmlformats.org/officeDocument/2006/relationships/notesSlide" Target="/ppt/notesSlides/notesSlide2.xml" Id="R34b1daa508e743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558db085cc448f" /><Relationship Type="http://schemas.openxmlformats.org/officeDocument/2006/relationships/notesSlide" Target="/ppt/notesSlides/notesSlide3.xml" Id="R649af7e4d31f41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2e8360bf1b46fa" /><Relationship Type="http://schemas.openxmlformats.org/officeDocument/2006/relationships/notesSlide" Target="/ppt/notesSlides/notesSlide4.xml" Id="R03fcf57dbd8a44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0ab30186114a67" /><Relationship Type="http://schemas.openxmlformats.org/officeDocument/2006/relationships/notesSlide" Target="/ppt/notesSlides/notesSlide5.xml" Id="Rfb35aeae467a4c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cc244d4681450a" /><Relationship Type="http://schemas.openxmlformats.org/officeDocument/2006/relationships/notesSlide" Target="/ppt/notesSlides/notesSlide6.xml" Id="R9beae9c7a6a04d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f7f465cd234cfb" /><Relationship Type="http://schemas.openxmlformats.org/officeDocument/2006/relationships/notesSlide" Target="/ppt/notesSlides/notesSlide7.xml" Id="Rabc53007494240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452f36cedb446d" /><Relationship Type="http://schemas.openxmlformats.org/officeDocument/2006/relationships/notesSlide" Target="/ppt/notesSlides/notesSlide8.xml" Id="Rdb4aae4a3e5140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76faf0add24e81" /><Relationship Type="http://schemas.openxmlformats.org/officeDocument/2006/relationships/notesSlide" Target="/ppt/notesSlides/notesSlide9.xml" Id="R65d90d33b28747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a1440f20ea4c04" /><Relationship Type="http://schemas.openxmlformats.org/officeDocument/2006/relationships/notesSlide" Target="/ppt/notesSlides/notesSlide10.xml" Id="R346ab444e86d4c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9541fb578464682" /><Relationship Type="http://schemas.openxmlformats.org/officeDocument/2006/relationships/notesSlide" Target="/ppt/notesSlides/notesSlide11.xml" Id="R6051e31299b343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8ee5ea0e9c4efe" /><Relationship Type="http://schemas.openxmlformats.org/officeDocument/2006/relationships/notesSlide" Target="/ppt/notesSlides/notesSlide12.xml" Id="R15103a112fcc47d1" /></Relationships>
</file>

<file path=ppt/slides/slide1.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E983A2-D1F5-4906-A744-F128284DC3B6}"/>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38291F"/>
                </a:solidFill>
                <a:latin typeface="Arial"/>
                <a:ea typeface="Arial"/>
                <a:cs typeface="Arial"/>
              </a:defRPr>
            </a:pPr>
            <a:r>
              <a:rPr sz="5100" b="1">
                <a:solidFill>
                  <a:srgbClr val="38291F"/>
                </a:solidFill>
                <a:latin typeface="Arial"/>
                <a:ea typeface="Arial"/>
                <a:cs typeface="Arial"/>
              </a:rPr>
              <a:t>TrailsUA</a:t>
            </a:r>
          </a:p>
        </p:txBody>
      </p:sp>
      <p:sp>
        <p:nvSpPr>
          <p:cNvPr id="2" name="">
            <a:extLst xmlns:a="http://schemas.openxmlformats.org/drawingml/2006/main">
              <a:ext uri="{FF2B5EF4-FFF2-40B4-BE49-F238E27FC236}">
                <a16:creationId xmlns:a16="http://schemas.microsoft.com/office/drawing/2014/main" id="{00273635-C95B-412F-8D5D-C1AB746A628B}"/>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04E34C-BA09-453F-8FEC-3B569EEEDE61}"/>
              </a:ext>
            </a:extLst>
          </p:cNvPr>
          <p:cNvSpPr>
            <a:spLocks xmlns:a="http://schemas.openxmlformats.org/drawingml/2006/main" noGrp="1"/>
          </p:cNvSpPr>
          <p:nvPr/>
        </p:nvSpPr>
        <p:spPr>
          <a:xfrm xmlns:a="http://schemas.openxmlformats.org/drawingml/2006/main">
            <a:off x="609600" y="2343150"/>
            <a:ext cx="1000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38291F"/>
                </a:solidFill>
                <a:latin typeface="Arial"/>
                <a:ea typeface="Arial"/>
                <a:cs typeface="Arial"/>
              </a:defRPr>
            </a:pPr>
            <a:r>
              <a:rPr sz="3450" b="0">
                <a:solidFill>
                  <a:srgbClr val="38291F"/>
                </a:solidFill>
                <a:latin typeface="Arial"/>
                <a:ea typeface="Arial"/>
                <a:cs typeface="Arial"/>
              </a:rPr>
              <a:t>Пошук житла та керування</a:t>
            </a:r>
          </a:p>
          <a:p xmlns:a="http://schemas.openxmlformats.org/drawingml/2006/main">
            <a:pPr>
              <a:defRPr sz="3450" b="0">
                <a:solidFill>
                  <a:srgbClr val="38291F"/>
                </a:solidFill>
                <a:latin typeface="Arial"/>
                <a:ea typeface="Arial"/>
                <a:cs typeface="Arial"/>
              </a:defRPr>
            </a:pPr>
            <a:r>
              <a:rPr sz="3450" b="0">
                <a:solidFill>
                  <a:srgbClr val="38291F"/>
                </a:solidFill>
                <a:latin typeface="Arial"/>
                <a:ea typeface="Arial"/>
                <a:cs typeface="Arial"/>
              </a:rPr>
              <a:t>бронюваннями</a:t>
            </a:r>
          </a:p>
        </p:txBody>
      </p:sp>
      <p:sp>
        <p:nvSpPr>
          <p:cNvPr id="4" name="">
            <a:extLst xmlns:a="http://schemas.openxmlformats.org/drawingml/2006/main">
              <a:ext uri="{FF2B5EF4-FFF2-40B4-BE49-F238E27FC236}">
                <a16:creationId xmlns:a16="http://schemas.microsoft.com/office/drawing/2014/main" id="{B447E2D0-7EE6-46CF-B1EA-60EF0CDF0A8A}"/>
              </a:ext>
            </a:extLst>
          </p:cNvPr>
          <p:cNvSpPr>
            <a:spLocks xmlns:a="http://schemas.openxmlformats.org/drawingml/2006/main" noGrp="1"/>
          </p:cNvSpPr>
          <p:nvPr/>
        </p:nvSpPr>
        <p:spPr>
          <a:xfrm xmlns:a="http://schemas.openxmlformats.org/drawingml/2006/main">
            <a:off x="609600" y="47625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715E50"/>
                </a:solidFill>
                <a:latin typeface="Arial"/>
                <a:ea typeface="Arial"/>
                <a:cs typeface="Arial"/>
              </a:defRPr>
            </a:pPr>
            <a:r>
              <a:rPr sz="2025" b="0">
                <a:solidFill>
                  <a:srgbClr val="715E50"/>
                </a:solidFill>
                <a:latin typeface="Arial"/>
                <a:ea typeface="Arial"/>
                <a:cs typeface="Arial"/>
              </a:rPr>
              <a:t>Програмна частина дипломного проєкту</a:t>
            </a:r>
          </a:p>
          <a:p xmlns:a="http://schemas.openxmlformats.org/drawingml/2006/main">
            <a:pPr>
              <a:defRPr sz="2025" b="0">
                <a:solidFill>
                  <a:srgbClr val="715E50"/>
                </a:solidFill>
                <a:latin typeface="Arial"/>
                <a:ea typeface="Arial"/>
                <a:cs typeface="Arial"/>
              </a:defRPr>
            </a:pPr>
            <a:r>
              <a:rPr sz="2025" b="0">
                <a:solidFill>
                  <a:srgbClr val="715E50"/>
                </a:solidFill>
                <a:latin typeface="Arial"/>
                <a:ea typeface="Arial"/>
                <a:cs typeface="Arial"/>
              </a:rPr>
              <a:t>Два програмісти</a:t>
            </a:r>
          </a:p>
        </p:txBody>
      </p:sp>
      <p:sp>
        <p:nvSpPr>
          <p:cNvPr id="5" name="">
            <a:extLst xmlns:a="http://schemas.openxmlformats.org/drawingml/2006/main">
              <a:ext uri="{FF2B5EF4-FFF2-40B4-BE49-F238E27FC236}">
                <a16:creationId xmlns:a16="http://schemas.microsoft.com/office/drawing/2014/main" id="{F2EACD0D-E0E5-4632-84C2-315CDE7F8226}"/>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1 / 12</a:t>
            </a:r>
          </a:p>
        </p:txBody>
      </p:sp>
    </p:spTree>
    <p:extLst>
      <p:ext uri="{BB962C8B-B14F-4D97-AF65-F5344CB8AC3E}">
        <p14:creationId xmlns:p14="http://schemas.microsoft.com/office/powerpoint/2010/main" val="444560372"/>
      </p:ext>
    </p:extLst>
  </p:cSld>
</p:sld>
</file>

<file path=ppt/slides/slide2.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E6ABFF-C4A5-4296-A6C6-B2EB653FEF70}"/>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Призначення та користувачі</a:t>
            </a:r>
          </a:p>
        </p:txBody>
      </p:sp>
      <p:sp>
        <p:nvSpPr>
          <p:cNvPr id="2" name="">
            <a:extLst xmlns:a="http://schemas.openxmlformats.org/drawingml/2006/main">
              <a:ext uri="{FF2B5EF4-FFF2-40B4-BE49-F238E27FC236}">
                <a16:creationId xmlns:a16="http://schemas.microsoft.com/office/drawing/2014/main" id="{E28D62C4-EF26-4832-899E-7D6331BCA4ED}"/>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55B364-C46E-4B07-8634-3ACA3C413B0D}"/>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Гість знаходить житло,</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обирає дати та подає заявку</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Власник публікує оголошення</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та обробляє бронювання</a:t>
            </a:r>
          </a:p>
        </p:txBody>
      </p:sp>
      <p:sp>
        <p:nvSpPr>
          <p:cNvPr id="4" name="">
            <a:extLst xmlns:a="http://schemas.openxmlformats.org/drawingml/2006/main">
              <a:ext uri="{FF2B5EF4-FFF2-40B4-BE49-F238E27FC236}">
                <a16:creationId xmlns:a16="http://schemas.microsoft.com/office/drawing/2014/main" id="{5B63E56F-BB0A-462F-9589-FE8FE05DB81F}"/>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Адміністратор керує акаунтами</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та правами доступу</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Учасники бронювання</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спілкуються в особистому чаті</a:t>
            </a:r>
          </a:p>
        </p:txBody>
      </p:sp>
      <p:sp>
        <p:nvSpPr>
          <p:cNvPr id="5" name="">
            <a:extLst xmlns:a="http://schemas.openxmlformats.org/drawingml/2006/main">
              <a:ext uri="{FF2B5EF4-FFF2-40B4-BE49-F238E27FC236}">
                <a16:creationId xmlns:a16="http://schemas.microsoft.com/office/drawing/2014/main" id="{CF9E0E1E-C171-4FDA-84AA-8FF6E4D1864D}"/>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2 / 12</a:t>
            </a:r>
          </a:p>
        </p:txBody>
      </p:sp>
    </p:spTree>
    <p:extLst>
      <p:ext uri="{BB962C8B-B14F-4D97-AF65-F5344CB8AC3E}">
        <p14:creationId xmlns:p14="http://schemas.microsoft.com/office/powerpoint/2010/main" val="2046333835"/>
      </p:ext>
    </p:extLst>
  </p:cSld>
</p:sld>
</file>

<file path=ppt/slides/slide3.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880087-9780-4F54-B24E-E8826271E759}"/>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Функціональні модулі</a:t>
            </a:r>
          </a:p>
        </p:txBody>
      </p:sp>
      <p:sp>
        <p:nvSpPr>
          <p:cNvPr id="2" name="">
            <a:extLst xmlns:a="http://schemas.openxmlformats.org/drawingml/2006/main">
              <a:ext uri="{FF2B5EF4-FFF2-40B4-BE49-F238E27FC236}">
                <a16:creationId xmlns:a16="http://schemas.microsoft.com/office/drawing/2014/main" id="{033347FB-190F-4BDF-BEBF-45971C49E4C0}"/>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DAA6545-2C51-4C34-9066-7260DE6476D0}"/>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Каталог і фільтри</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Картка житла, фотографії та карта</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Обране й відгуки</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Створення оголошень</a:t>
            </a:r>
          </a:p>
        </p:txBody>
      </p:sp>
      <p:sp>
        <p:nvSpPr>
          <p:cNvPr id="4" name="">
            <a:extLst xmlns:a="http://schemas.openxmlformats.org/drawingml/2006/main">
              <a:ext uri="{FF2B5EF4-FFF2-40B4-BE49-F238E27FC236}">
                <a16:creationId xmlns:a16="http://schemas.microsoft.com/office/drawing/2014/main" id="{45FF5352-CC89-4C98-871F-A76C6E8AFB0D}"/>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Реєстрація та профіль</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Бронювання та повідомлення</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Адміністрування</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Інформаційні сторінки й FAQ</a:t>
            </a:r>
          </a:p>
        </p:txBody>
      </p:sp>
      <p:sp>
        <p:nvSpPr>
          <p:cNvPr id="5" name="">
            <a:extLst xmlns:a="http://schemas.openxmlformats.org/drawingml/2006/main">
              <a:ext uri="{FF2B5EF4-FFF2-40B4-BE49-F238E27FC236}">
                <a16:creationId xmlns:a16="http://schemas.microsoft.com/office/drawing/2014/main" id="{54C3E109-F64A-4E2B-81EF-B6904ADCCEA3}"/>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3 / 12</a:t>
            </a:r>
          </a:p>
        </p:txBody>
      </p:sp>
    </p:spTree>
    <p:extLst>
      <p:ext uri="{BB962C8B-B14F-4D97-AF65-F5344CB8AC3E}">
        <p14:creationId xmlns:p14="http://schemas.microsoft.com/office/powerpoint/2010/main" val="321418977"/>
      </p:ext>
    </p:extLst>
  </p:cSld>
</p:sld>
</file>

<file path=ppt/slides/slide4.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79C5C4-EC39-4E02-82FA-3907D4BE68FC}"/>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Клієнтська частина</a:t>
            </a:r>
          </a:p>
        </p:txBody>
      </p:sp>
      <p:sp>
        <p:nvSpPr>
          <p:cNvPr id="2" name="">
            <a:extLst xmlns:a="http://schemas.openxmlformats.org/drawingml/2006/main">
              <a:ext uri="{FF2B5EF4-FFF2-40B4-BE49-F238E27FC236}">
                <a16:creationId xmlns:a16="http://schemas.microsoft.com/office/drawing/2014/main" id="{BF4AE52D-5C73-4D77-B9C8-484E860E61DA}"/>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D93184-1E39-402C-8CDA-4C13969BDEDF}"/>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React 19 і TypeScript</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Компоненти та типізовані дані</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React Router і Axios</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Навігація та запити до API</a:t>
            </a:r>
          </a:p>
        </p:txBody>
      </p:sp>
      <p:sp>
        <p:nvSpPr>
          <p:cNvPr id="4" name="">
            <a:extLst xmlns:a="http://schemas.openxmlformats.org/drawingml/2006/main">
              <a:ext uri="{FF2B5EF4-FFF2-40B4-BE49-F238E27FC236}">
                <a16:creationId xmlns:a16="http://schemas.microsoft.com/office/drawing/2014/main" id="{FD6DC194-0A31-46F6-A2A5-8F49FBC2289D}"/>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Vite збирає застосунок</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Leaflet відображає карту</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Спільні компоненти</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та адаптивні ключові сторінки</a:t>
            </a:r>
          </a:p>
        </p:txBody>
      </p:sp>
      <p:sp>
        <p:nvSpPr>
          <p:cNvPr id="5" name="">
            <a:extLst xmlns:a="http://schemas.openxmlformats.org/drawingml/2006/main">
              <a:ext uri="{FF2B5EF4-FFF2-40B4-BE49-F238E27FC236}">
                <a16:creationId xmlns:a16="http://schemas.microsoft.com/office/drawing/2014/main" id="{6633F481-512E-4504-9A2C-D4F9BE1D30D9}"/>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4 / 12</a:t>
            </a:r>
          </a:p>
        </p:txBody>
      </p:sp>
    </p:spTree>
    <p:extLst>
      <p:ext uri="{BB962C8B-B14F-4D97-AF65-F5344CB8AC3E}">
        <p14:creationId xmlns:p14="http://schemas.microsoft.com/office/powerpoint/2010/main" val="1059137963"/>
      </p:ext>
    </p:extLst>
  </p:cSld>
</p:sld>
</file>

<file path=ppt/slides/slide5.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007982-F7BB-440A-BCB9-BCDE035C6EB3}"/>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Спільний стан і джерела даних</a:t>
            </a:r>
          </a:p>
        </p:txBody>
      </p:sp>
      <p:sp>
        <p:nvSpPr>
          <p:cNvPr id="2" name="">
            <a:extLst xmlns:a="http://schemas.openxmlformats.org/drawingml/2006/main">
              <a:ext uri="{FF2B5EF4-FFF2-40B4-BE49-F238E27FC236}">
                <a16:creationId xmlns:a16="http://schemas.microsoft.com/office/drawing/2014/main" id="{074C56F2-2E26-4C08-84DD-700B038CC2A1}"/>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1C6225-D97B-42B2-8AA4-787F59532B24}"/>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AuthContext зберігає стан входу</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SettingsContext зберігає налаштування</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AppDataContext надає джерела даних</a:t>
            </a:r>
          </a:p>
        </p:txBody>
      </p:sp>
      <p:sp>
        <p:nvSpPr>
          <p:cNvPr id="4" name="">
            <a:extLst xmlns:a="http://schemas.openxmlformats.org/drawingml/2006/main">
              <a:ext uri="{FF2B5EF4-FFF2-40B4-BE49-F238E27FC236}">
                <a16:creationId xmlns:a16="http://schemas.microsoft.com/office/drawing/2014/main" id="{CC8B8DFF-4FE8-4D45-B0DE-7EAC4AA6F21A}"/>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Єдині контракти для demo та live</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Адаптери підключають HTTP API</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Вибір режиму в dataSources.ts</a:t>
            </a:r>
          </a:p>
        </p:txBody>
      </p:sp>
      <p:sp>
        <p:nvSpPr>
          <p:cNvPr id="5" name="">
            <a:extLst xmlns:a="http://schemas.openxmlformats.org/drawingml/2006/main">
              <a:ext uri="{FF2B5EF4-FFF2-40B4-BE49-F238E27FC236}">
                <a16:creationId xmlns:a16="http://schemas.microsoft.com/office/drawing/2014/main" id="{A5F2A2C7-7B53-460D-BEDE-98321228B969}"/>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5 / 12</a:t>
            </a:r>
          </a:p>
        </p:txBody>
      </p:sp>
    </p:spTree>
    <p:extLst>
      <p:ext uri="{BB962C8B-B14F-4D97-AF65-F5344CB8AC3E}">
        <p14:creationId xmlns:p14="http://schemas.microsoft.com/office/powerpoint/2010/main" val="1531691757"/>
      </p:ext>
    </p:extLst>
  </p:cSld>
</p:sld>
</file>

<file path=ppt/slides/slide6.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D4CEC3-02C1-459C-BD3F-FBF0C3F1C397}"/>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Сервер і обробка запиту</a:t>
            </a:r>
          </a:p>
        </p:txBody>
      </p:sp>
      <p:sp>
        <p:nvSpPr>
          <p:cNvPr id="2" name="">
            <a:extLst xmlns:a="http://schemas.openxmlformats.org/drawingml/2006/main">
              <a:ext uri="{FF2B5EF4-FFF2-40B4-BE49-F238E27FC236}">
                <a16:creationId xmlns:a16="http://schemas.microsoft.com/office/drawing/2014/main" id="{DDF94EAB-44AA-4B6C-9197-1E5CFD63B0CD}"/>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4009ED-74AB-4E91-A41D-9B3605B738ED}"/>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ASP.NET Core на .NET 10</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HTTP API для клієнта</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Контролери приймають запити</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Сервіси перевіряють правила</a:t>
            </a:r>
          </a:p>
        </p:txBody>
      </p:sp>
      <p:sp>
        <p:nvSpPr>
          <p:cNvPr id="4" name="">
            <a:extLst xmlns:a="http://schemas.openxmlformats.org/drawingml/2006/main">
              <a:ext uri="{FF2B5EF4-FFF2-40B4-BE49-F238E27FC236}">
                <a16:creationId xmlns:a16="http://schemas.microsoft.com/office/drawing/2014/main" id="{A9B09C4F-3861-4E94-B4A5-7A82AB9DF8FC}"/>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Domain: сутності та DTO</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Infrastructure: сервіси й дані</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API: маршрути та авторизація</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EF Core працює з PostgreSQL</a:t>
            </a:r>
          </a:p>
        </p:txBody>
      </p:sp>
      <p:sp>
        <p:nvSpPr>
          <p:cNvPr id="5" name="">
            <a:extLst xmlns:a="http://schemas.openxmlformats.org/drawingml/2006/main">
              <a:ext uri="{FF2B5EF4-FFF2-40B4-BE49-F238E27FC236}">
                <a16:creationId xmlns:a16="http://schemas.microsoft.com/office/drawing/2014/main" id="{25B93A43-9701-4F6F-AAC7-AEDBDAB1449F}"/>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6 / 12</a:t>
            </a:r>
          </a:p>
        </p:txBody>
      </p:sp>
    </p:spTree>
    <p:extLst>
      <p:ext uri="{BB962C8B-B14F-4D97-AF65-F5344CB8AC3E}">
        <p14:creationId xmlns:p14="http://schemas.microsoft.com/office/powerpoint/2010/main" val="544746119"/>
      </p:ext>
    </p:extLst>
  </p:cSld>
</p:sld>
</file>

<file path=ppt/slides/slide7.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E58454-5814-4E49-A062-F7ECB758E837}"/>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Модель даних</a:t>
            </a:r>
          </a:p>
        </p:txBody>
      </p:sp>
      <p:sp>
        <p:nvSpPr>
          <p:cNvPr id="2" name="">
            <a:extLst xmlns:a="http://schemas.openxmlformats.org/drawingml/2006/main">
              <a:ext uri="{FF2B5EF4-FFF2-40B4-BE49-F238E27FC236}">
                <a16:creationId xmlns:a16="http://schemas.microsoft.com/office/drawing/2014/main" id="{7992E8B7-CBB5-4ACB-BD10-22DF19CA15A4}"/>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083E67-9996-481F-9906-D8AFFFAE5380}"/>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Користувач має оголошення</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Оголошення має фото та категорію</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Бронювання пов’язує</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гостя, житло і дати</a:t>
            </a:r>
          </a:p>
        </p:txBody>
      </p:sp>
      <p:sp>
        <p:nvSpPr>
          <p:cNvPr id="4" name="">
            <a:extLst xmlns:a="http://schemas.openxmlformats.org/drawingml/2006/main">
              <a:ext uri="{FF2B5EF4-FFF2-40B4-BE49-F238E27FC236}">
                <a16:creationId xmlns:a16="http://schemas.microsoft.com/office/drawing/2014/main" id="{99573E4D-7635-484C-8E8A-4F15FCF50DC2}"/>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Відгуки й обране посилаються</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на користувача та оголошення</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PostgreSQL зберігає дані</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EF migrations змінюють схему</a:t>
            </a:r>
          </a:p>
        </p:txBody>
      </p:sp>
      <p:sp>
        <p:nvSpPr>
          <p:cNvPr id="5" name="">
            <a:extLst xmlns:a="http://schemas.openxmlformats.org/drawingml/2006/main">
              <a:ext uri="{FF2B5EF4-FFF2-40B4-BE49-F238E27FC236}">
                <a16:creationId xmlns:a16="http://schemas.microsoft.com/office/drawing/2014/main" id="{F29B73BA-C08A-494A-B124-8688835DE948}"/>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7 / 12</a:t>
            </a:r>
          </a:p>
        </p:txBody>
      </p:sp>
    </p:spTree>
    <p:extLst>
      <p:ext uri="{BB962C8B-B14F-4D97-AF65-F5344CB8AC3E}">
        <p14:creationId xmlns:p14="http://schemas.microsoft.com/office/powerpoint/2010/main" val="1649390898"/>
      </p:ext>
    </p:extLst>
  </p:cSld>
</p:sld>
</file>

<file path=ppt/slides/slide8.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1B1A17-4E19-436D-B388-689C4C47A491}"/>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Бронювання та приватний чат</a:t>
            </a:r>
          </a:p>
        </p:txBody>
      </p:sp>
      <p:sp>
        <p:nvSpPr>
          <p:cNvPr id="2" name="">
            <a:extLst xmlns:a="http://schemas.openxmlformats.org/drawingml/2006/main">
              <a:ext uri="{FF2B5EF4-FFF2-40B4-BE49-F238E27FC236}">
                <a16:creationId xmlns:a16="http://schemas.microsoft.com/office/drawing/2014/main" id="{077262E9-9593-4571-BD0F-4750CF58A43E}"/>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E0AA9AA-7408-4004-B73F-8A6B285B84A9}"/>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Сервер перевіряє дати й місткість</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Розраховує ночі та вартість</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Власник підтверджує заявку</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Скасування звільняє інтервал</a:t>
            </a:r>
          </a:p>
        </p:txBody>
      </p:sp>
      <p:sp>
        <p:nvSpPr>
          <p:cNvPr id="4" name="">
            <a:extLst xmlns:a="http://schemas.openxmlformats.org/drawingml/2006/main">
              <a:ext uri="{FF2B5EF4-FFF2-40B4-BE49-F238E27FC236}">
                <a16:creationId xmlns:a16="http://schemas.microsoft.com/office/drawing/2014/main" id="{2BD5AD47-544D-46DE-9849-2BD4AA67F321}"/>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База забороняє перетин</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активних бронювань</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Чат доступний учасникам заявки</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Повідомлення зберігаються в БД</a:t>
            </a:r>
          </a:p>
        </p:txBody>
      </p:sp>
      <p:sp>
        <p:nvSpPr>
          <p:cNvPr id="5" name="">
            <a:extLst xmlns:a="http://schemas.openxmlformats.org/drawingml/2006/main">
              <a:ext uri="{FF2B5EF4-FFF2-40B4-BE49-F238E27FC236}">
                <a16:creationId xmlns:a16="http://schemas.microsoft.com/office/drawing/2014/main" id="{1246E75C-AAD4-42FF-8036-1DF1F6DC4935}"/>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8 / 12</a:t>
            </a:r>
          </a:p>
        </p:txBody>
      </p:sp>
    </p:spTree>
    <p:extLst>
      <p:ext uri="{BB962C8B-B14F-4D97-AF65-F5344CB8AC3E}">
        <p14:creationId xmlns:p14="http://schemas.microsoft.com/office/powerpoint/2010/main" val="1783289168"/>
      </p:ext>
    </p:extLst>
  </p:cSld>
</p:sld>
</file>

<file path=ppt/slides/slide9.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01AF43-20F5-4838-AFE1-99E2C0F1243E}"/>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Авторизація та адміністрування</a:t>
            </a:r>
          </a:p>
        </p:txBody>
      </p:sp>
      <p:sp>
        <p:nvSpPr>
          <p:cNvPr id="2" name="">
            <a:extLst xmlns:a="http://schemas.openxmlformats.org/drawingml/2006/main">
              <a:ext uri="{FF2B5EF4-FFF2-40B4-BE49-F238E27FC236}">
                <a16:creationId xmlns:a16="http://schemas.microsoft.com/office/drawing/2014/main" id="{D8431D07-EFAA-4BCB-9E21-559899ADECC9}"/>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5D8F05-3AF4-423C-8F6B-A99F1BDFF82A}"/>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Email або телефон і пароль</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BCrypt для хешування пароля</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JWT та refresh-токен для сесії</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API перевіряє роль і власника</a:t>
            </a:r>
          </a:p>
        </p:txBody>
      </p:sp>
      <p:sp>
        <p:nvSpPr>
          <p:cNvPr id="4" name="">
            <a:extLst xmlns:a="http://schemas.openxmlformats.org/drawingml/2006/main">
              <a:ext uri="{FF2B5EF4-FFF2-40B4-BE49-F238E27FC236}">
                <a16:creationId xmlns:a16="http://schemas.microsoft.com/office/drawing/2014/main" id="{81050588-5DDD-4DBA-A472-802997CB3406}"/>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Пошук акаунтів та статистика</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Ролі, блокування й відновлення</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Головний Admin створюється</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через параметри оточення</a:t>
            </a:r>
          </a:p>
        </p:txBody>
      </p:sp>
      <p:sp>
        <p:nvSpPr>
          <p:cNvPr id="5" name="">
            <a:extLst xmlns:a="http://schemas.openxmlformats.org/drawingml/2006/main">
              <a:ext uri="{FF2B5EF4-FFF2-40B4-BE49-F238E27FC236}">
                <a16:creationId xmlns:a16="http://schemas.microsoft.com/office/drawing/2014/main" id="{8B5C54AF-A5B7-4B13-B273-99D9817647F4}"/>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9 / 12</a:t>
            </a:r>
          </a:p>
        </p:txBody>
      </p:sp>
    </p:spTree>
    <p:extLst>
      <p:ext uri="{BB962C8B-B14F-4D97-AF65-F5344CB8AC3E}">
        <p14:creationId xmlns:p14="http://schemas.microsoft.com/office/powerpoint/2010/main" val="841714547"/>
      </p:ext>
    </p:extLst>
  </p:cSld>
</p:sld>
</file>

<file path=ppt/slides/slide10.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1F4DE3-857D-430E-A232-1797E889F451}"/>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Перевірка програмної частини</a:t>
            </a:r>
          </a:p>
        </p:txBody>
      </p:sp>
      <p:sp>
        <p:nvSpPr>
          <p:cNvPr id="2" name="">
            <a:extLst xmlns:a="http://schemas.openxmlformats.org/drawingml/2006/main">
              <a:ext uri="{FF2B5EF4-FFF2-40B4-BE49-F238E27FC236}">
                <a16:creationId xmlns:a16="http://schemas.microsoft.com/office/drawing/2014/main" id="{81058CFA-A76B-4E21-ADC0-31CFCA0DDF43}"/>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CAFD27-0C62-48D7-82EC-4E749A73E6B6}"/>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xUnit: правила та HTTP API</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PostgreSQL: конкурентні заявки</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Vitest: контракти та формати</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TypeScript, ESLint і збірка</a:t>
            </a:r>
          </a:p>
        </p:txBody>
      </p:sp>
      <p:sp>
        <p:nvSpPr>
          <p:cNvPr id="4" name="">
            <a:extLst xmlns:a="http://schemas.openxmlformats.org/drawingml/2006/main">
              <a:ext uri="{FF2B5EF4-FFF2-40B4-BE49-F238E27FC236}">
                <a16:creationId xmlns:a16="http://schemas.microsoft.com/office/drawing/2014/main" id="{C5A1C27F-D7B8-437B-A228-A73B398C6C7C}"/>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Ручний прохід основних сценаріїв</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Ключові мобільні екрани</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Результати та обмеження</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зафіксовані у VERIFICATION.md</a:t>
            </a:r>
          </a:p>
        </p:txBody>
      </p:sp>
      <p:sp>
        <p:nvSpPr>
          <p:cNvPr id="5" name="">
            <a:extLst xmlns:a="http://schemas.openxmlformats.org/drawingml/2006/main">
              <a:ext uri="{FF2B5EF4-FFF2-40B4-BE49-F238E27FC236}">
                <a16:creationId xmlns:a16="http://schemas.microsoft.com/office/drawing/2014/main" id="{A5B672ED-B4E6-4091-B0C0-FF39AFB88890}"/>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10 / 12</a:t>
            </a:r>
          </a:p>
        </p:txBody>
      </p:sp>
    </p:spTree>
    <p:extLst>
      <p:ext uri="{BB962C8B-B14F-4D97-AF65-F5344CB8AC3E}">
        <p14:creationId xmlns:p14="http://schemas.microsoft.com/office/powerpoint/2010/main" val="41427380"/>
      </p:ext>
    </p:extLst>
  </p:cSld>
</p:sld>
</file>

<file path=ppt/slides/slide11.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1AE9C6-C18D-442B-AF26-2F7A32291E7C}"/>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Демонстрація сайту</a:t>
            </a:r>
          </a:p>
        </p:txBody>
      </p:sp>
      <p:sp>
        <p:nvSpPr>
          <p:cNvPr id="2" name="">
            <a:extLst xmlns:a="http://schemas.openxmlformats.org/drawingml/2006/main">
              <a:ext uri="{FF2B5EF4-FFF2-40B4-BE49-F238E27FC236}">
                <a16:creationId xmlns:a16="http://schemas.microsoft.com/office/drawing/2014/main" id="{0EBAD14E-90E4-4226-AFA6-AA69DEFEE0E1}"/>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442425-1458-40BB-A7A4-BB3D77566881}"/>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Гість</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Каталог, картка житла та заявка</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Власник</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Підтвердження бронювання</a:t>
            </a:r>
          </a:p>
        </p:txBody>
      </p:sp>
      <p:sp>
        <p:nvSpPr>
          <p:cNvPr id="4" name="">
            <a:extLst xmlns:a="http://schemas.openxmlformats.org/drawingml/2006/main">
              <a:ext uri="{FF2B5EF4-FFF2-40B4-BE49-F238E27FC236}">
                <a16:creationId xmlns:a16="http://schemas.microsoft.com/office/drawing/2014/main" id="{01115916-590F-4C2F-A43B-7748BEE8435D}"/>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Обидва учасники</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Повідомлення та перезавантаження</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Адміністратор</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Пошук тестового акаунта</a:t>
            </a:r>
          </a:p>
        </p:txBody>
      </p:sp>
      <p:sp>
        <p:nvSpPr>
          <p:cNvPr id="5" name="">
            <a:extLst xmlns:a="http://schemas.openxmlformats.org/drawingml/2006/main">
              <a:ext uri="{FF2B5EF4-FFF2-40B4-BE49-F238E27FC236}">
                <a16:creationId xmlns:a16="http://schemas.microsoft.com/office/drawing/2014/main" id="{D06279D5-2278-4609-9358-BC82B3F064F1}"/>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11 / 12</a:t>
            </a:r>
          </a:p>
        </p:txBody>
      </p:sp>
    </p:spTree>
    <p:extLst>
      <p:ext uri="{BB962C8B-B14F-4D97-AF65-F5344CB8AC3E}">
        <p14:creationId xmlns:p14="http://schemas.microsoft.com/office/powerpoint/2010/main" val="736669751"/>
      </p:ext>
    </p:extLst>
  </p:cSld>
</p:sld>
</file>

<file path=ppt/slides/slide12.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7E80B1-36E1-436C-A9E5-038F90CD2B57}"/>
              </a:ext>
            </a:extLst>
          </p:cNvPr>
          <p:cNvSpPr>
            <a:spLocks xmlns:a="http://schemas.openxmlformats.org/drawingml/2006/main" noGrp="1"/>
          </p:cNvSpPr>
          <p:nvPr/>
        </p:nvSpPr>
        <p:spPr>
          <a:xfrm xmlns:a="http://schemas.openxmlformats.org/drawingml/2006/main">
            <a:off x="609600" y="495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38291F"/>
                </a:solidFill>
                <a:latin typeface="Arial"/>
                <a:ea typeface="Arial"/>
                <a:cs typeface="Arial"/>
              </a:defRPr>
            </a:pPr>
            <a:r>
              <a:rPr sz="3375" b="1">
                <a:solidFill>
                  <a:srgbClr val="38291F"/>
                </a:solidFill>
                <a:latin typeface="Arial"/>
                <a:ea typeface="Arial"/>
                <a:cs typeface="Arial"/>
              </a:rPr>
              <a:t>Результат і межі проєкту</a:t>
            </a:r>
          </a:p>
        </p:txBody>
      </p:sp>
      <p:sp>
        <p:nvSpPr>
          <p:cNvPr id="2" name="">
            <a:extLst xmlns:a="http://schemas.openxmlformats.org/drawingml/2006/main">
              <a:ext uri="{FF2B5EF4-FFF2-40B4-BE49-F238E27FC236}">
                <a16:creationId xmlns:a16="http://schemas.microsoft.com/office/drawing/2014/main" id="{71D3FE94-61E2-459B-A7B5-2838B3E2D565}"/>
              </a:ext>
            </a:extLst>
          </p:cNvPr>
          <p:cNvSpPr>
            <a:spLocks xmlns:a="http://schemas.openxmlformats.org/drawingml/2006/main" noGrp="1"/>
          </p:cNvSpPr>
          <p:nvPr/>
        </p:nvSpPr>
        <p:spPr>
          <a:xfrm xmlns:a="http://schemas.openxmlformats.org/drawingml/2006/main">
            <a:off x="609600" y="1752600"/>
            <a:ext cx="10972800" cy="38100"/>
          </a:xfrm>
          <a:prstGeom xmlns:a="http://schemas.openxmlformats.org/drawingml/2006/main" prst="rect">
            <a:avLst/>
          </a:prstGeom>
          <a:solidFill xmlns:a="http://schemas.openxmlformats.org/drawingml/2006/main">
            <a:srgbClr val="B76A3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DAC165-EFE6-4708-996D-1687358EFFB3}"/>
              </a:ext>
            </a:extLst>
          </p:cNvPr>
          <p:cNvSpPr>
            <a:spLocks xmlns:a="http://schemas.openxmlformats.org/drawingml/2006/main" noGrp="1"/>
          </p:cNvSpPr>
          <p:nvPr/>
        </p:nvSpPr>
        <p:spPr>
          <a:xfrm xmlns:a="http://schemas.openxmlformats.org/drawingml/2006/main">
            <a:off x="609600" y="23050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Спільний процес для гостя</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та власника житла</a:t>
            </a:r>
          </a:p>
          <a:p xmlns:a="http://schemas.openxmlformats.org/drawingml/2006/main">
            <a:r>
              <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Дані зберігаються на сервері</a:t>
            </a:r>
          </a:p>
          <a:p xmlns:a="http://schemas.openxmlformats.org/drawingml/2006/main">
            <a:pPr>
              <a:defRPr sz="2175" b="0">
                <a:solidFill>
                  <a:srgbClr val="38291F"/>
                </a:solidFill>
                <a:latin typeface="Arial"/>
                <a:ea typeface="Arial"/>
                <a:cs typeface="Arial"/>
              </a:defRPr>
            </a:pPr>
            <a:r>
              <a:rPr sz="2175" b="0">
                <a:solidFill>
                  <a:srgbClr val="38291F"/>
                </a:solidFill>
                <a:latin typeface="Arial"/>
                <a:ea typeface="Arial"/>
                <a:cs typeface="Arial"/>
              </a:rPr>
              <a:t>Права перевіряються в API</a:t>
            </a:r>
          </a:p>
        </p:txBody>
      </p:sp>
      <p:sp>
        <p:nvSpPr>
          <p:cNvPr id="4" name="">
            <a:extLst xmlns:a="http://schemas.openxmlformats.org/drawingml/2006/main">
              <a:ext uri="{FF2B5EF4-FFF2-40B4-BE49-F238E27FC236}">
                <a16:creationId xmlns:a16="http://schemas.microsoft.com/office/drawing/2014/main" id="{486F4FB1-A53E-4368-8DCA-3365FA045B7D}"/>
              </a:ext>
            </a:extLst>
          </p:cNvPr>
          <p:cNvSpPr>
            <a:spLocks xmlns:a="http://schemas.openxmlformats.org/drawingml/2006/main" noGrp="1"/>
          </p:cNvSpPr>
          <p:nvPr/>
        </p:nvSpPr>
        <p:spPr>
          <a:xfrm xmlns:a="http://schemas.openxmlformats.org/drawingml/2006/main">
            <a:off x="6553200" y="2305050"/>
            <a:ext cx="5000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Фінанси та підтримка: demo</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SMS і Дія не підключені</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Локалізація ще неповна</a:t>
            </a:r>
          </a:p>
          <a:p xmlns:a="http://schemas.openxmlformats.org/drawingml/2006/main">
            <a:r>
              <a:t/>
            </a:r>
          </a:p>
          <a:p xmlns:a="http://schemas.openxmlformats.org/drawingml/2006/main">
            <a:pPr>
              <a:defRPr sz="2175" b="0">
                <a:solidFill>
                  <a:srgbClr val="715E50"/>
                </a:solidFill>
                <a:latin typeface="Arial"/>
                <a:ea typeface="Arial"/>
                <a:cs typeface="Arial"/>
              </a:defRPr>
            </a:pPr>
            <a:r>
              <a:rPr sz="2175" b="0">
                <a:solidFill>
                  <a:srgbClr val="715E50"/>
                </a:solidFill>
                <a:latin typeface="Arial"/>
                <a:ea typeface="Arial"/>
                <a:cs typeface="Arial"/>
              </a:rPr>
              <a:t>Наступний крок: ширша перевірка</a:t>
            </a:r>
          </a:p>
        </p:txBody>
      </p:sp>
      <p:sp>
        <p:nvSpPr>
          <p:cNvPr id="5" name="">
            <a:extLst xmlns:a="http://schemas.openxmlformats.org/drawingml/2006/main">
              <a:ext uri="{FF2B5EF4-FFF2-40B4-BE49-F238E27FC236}">
                <a16:creationId xmlns:a16="http://schemas.microsoft.com/office/drawing/2014/main" id="{C2D29B00-18E5-4D32-A813-77D4E7615B05}"/>
              </a:ext>
            </a:extLst>
          </p:cNvPr>
          <p:cNvSpPr>
            <a:spLocks xmlns:a="http://schemas.openxmlformats.org/drawingml/2006/main" noGrp="1"/>
          </p:cNvSpPr>
          <p:nvPr/>
        </p:nvSpPr>
        <p:spPr>
          <a:xfrm xmlns:a="http://schemas.openxmlformats.org/drawingml/2006/main">
            <a:off x="10763250" y="623887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5E50"/>
                </a:solidFill>
                <a:latin typeface="Arial"/>
                <a:ea typeface="Arial"/>
                <a:cs typeface="Arial"/>
              </a:defRPr>
            </a:pPr>
            <a:r>
              <a:rPr sz="1350" b="0">
                <a:solidFill>
                  <a:srgbClr val="715E50"/>
                </a:solidFill>
                <a:latin typeface="Arial"/>
                <a:ea typeface="Arial"/>
                <a:cs typeface="Arial"/>
              </a:rPr>
              <a:t>12 / 12</a:t>
            </a:r>
          </a:p>
        </p:txBody>
      </p:sp>
    </p:spTree>
    <p:extLst>
      <p:ext uri="{BB962C8B-B14F-4D97-AF65-F5344CB8AC3E}">
        <p14:creationId xmlns:p14="http://schemas.microsoft.com/office/powerpoint/2010/main" val="2160113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2026-09-25T13:29:22.9940000Z</dcterms:created>
  <dcterms:modified xsi:type="dcterms:W3CDTF">2026-09-25T13:29:22.9940000Z</dcterms:modified>
</coreProperties>
</file>